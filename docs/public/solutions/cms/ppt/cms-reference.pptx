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70" r:id="rId3"/>
  </p:sldMasterIdLst>
  <p:notesMasterIdLst>
    <p:notesMasterId r:id="rId20"/>
  </p:notesMasterIdLst>
  <p:handoutMasterIdLst>
    <p:handoutMasterId r:id="rId21"/>
  </p:handoutMasterIdLst>
  <p:sldIdLst>
    <p:sldId id="632" r:id="rId4"/>
    <p:sldId id="1045" r:id="rId5"/>
    <p:sldId id="1046" r:id="rId6"/>
    <p:sldId id="1047" r:id="rId7"/>
    <p:sldId id="1058" r:id="rId8"/>
    <p:sldId id="1060" r:id="rId9"/>
    <p:sldId id="1059" r:id="rId10"/>
    <p:sldId id="1061" r:id="rId11"/>
    <p:sldId id="1062" r:id="rId12"/>
    <p:sldId id="1063" r:id="rId13"/>
    <p:sldId id="1064" r:id="rId14"/>
    <p:sldId id="1065" r:id="rId15"/>
    <p:sldId id="1066" r:id="rId16"/>
    <p:sldId id="1067" r:id="rId17"/>
    <p:sldId id="1068" r:id="rId18"/>
    <p:sldId id="106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C8E3F99-1F2C-464F-AEDA-C94A00424118}">
          <p14:sldIdLst>
            <p14:sldId id="632"/>
            <p14:sldId id="1045"/>
            <p14:sldId id="1046"/>
            <p14:sldId id="1047"/>
            <p14:sldId id="1058"/>
            <p14:sldId id="1060"/>
            <p14:sldId id="1059"/>
            <p14:sldId id="1061"/>
            <p14:sldId id="1062"/>
            <p14:sldId id="1063"/>
            <p14:sldId id="1064"/>
            <p14:sldId id="1065"/>
            <p14:sldId id="1066"/>
            <p14:sldId id="1067"/>
            <p14:sldId id="1068"/>
            <p14:sldId id="1069"/>
          </p14:sldIdLst>
        </p14:section>
      </p14:sectionLst>
    </p:ext>
    <p:ext uri="{EFAFB233-063F-42B5-8137-9DF3F51BA10A}">
      <p15:sldGuideLst xmlns:p15="http://schemas.microsoft.com/office/powerpoint/2012/main">
        <p15:guide id="1" orient="horz" pos="2112">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FFFFFF"/>
    <a:srgbClr val="703C57"/>
    <a:srgbClr val="E8F1EE"/>
    <a:srgbClr val="CDE2DB"/>
    <a:srgbClr val="0070C0"/>
    <a:srgbClr val="D0CECE"/>
    <a:srgbClr val="009051"/>
    <a:srgbClr val="CEF4EC"/>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22" autoAdjust="0"/>
    <p:restoredTop sz="96120" autoAdjust="0"/>
  </p:normalViewPr>
  <p:slideViewPr>
    <p:cSldViewPr snapToGrid="0">
      <p:cViewPr varScale="1">
        <p:scale>
          <a:sx n="103" d="100"/>
          <a:sy n="103" d="100"/>
        </p:scale>
        <p:origin x="138" y="396"/>
      </p:cViewPr>
      <p:guideLst>
        <p:guide orient="horz" pos="2112"/>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F0A603-9B2F-4BB7-BEEE-6E0FE7239E34}" type="datetimeFigureOut">
              <a:rPr lang="zh-CN" altLang="en-US" smtClean="0"/>
              <a:t>2026/2/2</a:t>
            </a:fld>
            <a:endParaRPr lang="zh-CN"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3C6719-5532-4E4C-BD10-24C610D0E2C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73315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pPr eaLnBrk="1" hangingPunct="1">
              <a:spcBef>
                <a:spcPct val="50000"/>
              </a:spcBef>
            </a:pPr>
            <a:r>
              <a:rPr lang="zh-CN" altLang="en-US" sz="1200" b="1" dirty="0">
                <a:latin typeface="华文细黑" pitchFamily="2" charset="-122"/>
                <a:ea typeface="华文细黑" pitchFamily="2" charset="-122"/>
              </a:rPr>
              <a:t>教学目标：</a:t>
            </a:r>
            <a:endParaRPr lang="en-US" altLang="zh-CN" sz="1200" b="1" dirty="0">
              <a:latin typeface="华文细黑" pitchFamily="2" charset="-122"/>
              <a:ea typeface="华文细黑" pitchFamily="2" charset="-122"/>
            </a:endParaRPr>
          </a:p>
          <a:p>
            <a:pPr eaLnBrk="1" hangingPunct="1">
              <a:spcBef>
                <a:spcPct val="50000"/>
              </a:spcBef>
            </a:pPr>
            <a:r>
              <a:rPr lang="zh-CN" altLang="en-US" sz="1200" b="0" dirty="0">
                <a:latin typeface="华文细黑" pitchFamily="2" charset="-122"/>
                <a:ea typeface="华文细黑" pitchFamily="2" charset="-122"/>
              </a:rPr>
              <a:t>使学员了解本门课程研讨目标，并激起学员投身其中，想要学习的意愿。</a:t>
            </a:r>
            <a:endParaRPr lang="en-US" altLang="zh-CN" sz="1200" b="0" dirty="0">
              <a:latin typeface="华文细黑" pitchFamily="2" charset="-122"/>
              <a:ea typeface="华文细黑" pitchFamily="2" charset="-122"/>
            </a:endParaRPr>
          </a:p>
          <a:p>
            <a:pPr eaLnBrk="1" hangingPunct="1">
              <a:spcBef>
                <a:spcPct val="50000"/>
              </a:spcBef>
            </a:pPr>
            <a:r>
              <a:rPr lang="zh-CN" altLang="en-US" sz="1200" b="1" dirty="0">
                <a:latin typeface="华文细黑" pitchFamily="2" charset="-122"/>
                <a:ea typeface="华文细黑" pitchFamily="2" charset="-122"/>
              </a:rPr>
              <a:t>教学程序：</a:t>
            </a:r>
            <a:endParaRPr lang="en-US" altLang="zh-CN" sz="1200" b="1" dirty="0">
              <a:latin typeface="华文细黑" pitchFamily="2" charset="-122"/>
              <a:ea typeface="华文细黑" pitchFamily="2" charset="-122"/>
            </a:endParaRPr>
          </a:p>
          <a:p>
            <a:pPr eaLnBrk="1" hangingPunct="1">
              <a:spcBef>
                <a:spcPct val="50000"/>
              </a:spcBef>
            </a:pPr>
            <a:r>
              <a:rPr lang="zh-CN" altLang="en-US" sz="1200" dirty="0">
                <a:latin typeface="华文细黑" pitchFamily="2" charset="-122"/>
                <a:ea typeface="华文细黑" pitchFamily="2" charset="-122"/>
              </a:rPr>
              <a:t>讲授：简单介绍本课程的主要内容。</a:t>
            </a:r>
            <a:endParaRPr lang="en-US" altLang="zh-CN" sz="1200" dirty="0">
              <a:latin typeface="华文细黑" pitchFamily="2" charset="-122"/>
              <a:ea typeface="华文细黑" pitchFamily="2" charset="-122"/>
            </a:endParaRPr>
          </a:p>
          <a:p>
            <a:pPr eaLnBrk="1" hangingPunct="1">
              <a:spcBef>
                <a:spcPct val="50000"/>
              </a:spcBef>
            </a:pPr>
            <a:r>
              <a:rPr lang="zh-CN" altLang="en-US" sz="1200" b="1" dirty="0">
                <a:latin typeface="华文细黑" pitchFamily="2" charset="-122"/>
                <a:ea typeface="华文细黑" pitchFamily="2" charset="-122"/>
              </a:rPr>
              <a:t>教学时间：</a:t>
            </a:r>
            <a:endParaRPr lang="en-US" altLang="zh-CN" sz="1200" b="1" dirty="0">
              <a:latin typeface="华文细黑" pitchFamily="2" charset="-122"/>
              <a:ea typeface="华文细黑" pitchFamily="2" charset="-122"/>
            </a:endParaRPr>
          </a:p>
          <a:p>
            <a:pPr eaLnBrk="1" hangingPunct="1">
              <a:spcBef>
                <a:spcPct val="50000"/>
              </a:spcBef>
            </a:pPr>
            <a:r>
              <a:rPr lang="en-US" altLang="zh-CN" sz="1200" dirty="0">
                <a:latin typeface="华文细黑" pitchFamily="2" charset="-122"/>
                <a:ea typeface="华文细黑" pitchFamily="2" charset="-122"/>
              </a:rPr>
              <a:t>2</a:t>
            </a:r>
            <a:r>
              <a:rPr lang="zh-CN" altLang="en-US" sz="1200" dirty="0">
                <a:latin typeface="华文细黑" pitchFamily="2" charset="-122"/>
                <a:ea typeface="华文细黑" pitchFamily="2" charset="-122"/>
              </a:rPr>
              <a:t>分钟</a:t>
            </a:r>
          </a:p>
          <a:p>
            <a:pPr marL="0" marR="0" indent="0" algn="l" defTabSz="914400" rtl="0" eaLnBrk="1" fontAlgn="base" latinLnBrk="0" hangingPunct="1">
              <a:lnSpc>
                <a:spcPct val="100000"/>
              </a:lnSpc>
              <a:spcBef>
                <a:spcPct val="30000"/>
              </a:spcBef>
              <a:spcAft>
                <a:spcPct val="0"/>
              </a:spcAft>
              <a:buClrTx/>
              <a:buSzTx/>
              <a:buFontTx/>
              <a:buNone/>
              <a:defRPr/>
            </a:pPr>
            <a:r>
              <a:rPr lang="zh-CN" altLang="en-US" sz="1200" b="1" dirty="0">
                <a:latin typeface="华文细黑" pitchFamily="2" charset="-122"/>
                <a:ea typeface="华文细黑" pitchFamily="2" charset="-122"/>
              </a:rPr>
              <a:t>注意事项：</a:t>
            </a:r>
            <a:endParaRPr lang="en-US" altLang="zh-CN" sz="1200" b="1" dirty="0">
              <a:latin typeface="华文细黑" pitchFamily="2" charset="-122"/>
              <a:ea typeface="华文细黑" pitchFamily="2" charset="-122"/>
            </a:endParaRPr>
          </a:p>
          <a:p>
            <a:pPr eaLnBrk="1" hangingPunct="1"/>
            <a:endParaRPr lang="zh-CN" altLang="en-US" sz="1200" dirty="0">
              <a:latin typeface="华文细黑" pitchFamily="2" charset="-122"/>
              <a:ea typeface="华文细黑" pitchFamily="2" charset="-122"/>
            </a:endParaRPr>
          </a:p>
          <a:p>
            <a:pPr eaLnBrk="1" hangingPunct="1"/>
            <a:endParaRPr lang="zh-CN" altLang="en-US" sz="1200" dirty="0">
              <a:latin typeface="华文细黑" pitchFamily="2" charset="-122"/>
              <a:ea typeface="华文细黑" pitchFamily="2" charset="-122"/>
            </a:endParaRPr>
          </a:p>
          <a:p>
            <a:pPr eaLnBrk="1" hangingPunct="1"/>
            <a:endParaRPr lang="en-US" altLang="zh-CN" sz="1200" dirty="0">
              <a:latin typeface="华文细黑" pitchFamily="2" charset="-122"/>
              <a:ea typeface="华文细黑" pitchFamily="2"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84656D28-94AE-45BA-8499-80962CA4D1D4}" type="slidenum">
              <a:rPr lang="zh-CN" altLang="en-US" smtClean="0"/>
              <a:t>2</a:t>
            </a:fld>
            <a:endParaRPr lang="zh-CN" altLang="en-US"/>
          </a:p>
        </p:txBody>
      </p:sp>
    </p:spTree>
    <p:extLst>
      <p:ext uri="{BB962C8B-B14F-4D97-AF65-F5344CB8AC3E}">
        <p14:creationId xmlns:p14="http://schemas.microsoft.com/office/powerpoint/2010/main" val="25617399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21515"/>
            <a:ext cx="12192002"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8"/>
            <a:ext cx="11734800" cy="1655762"/>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10758"/>
            <a:ext cx="12192002" cy="6868758"/>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sp>
        <p:nvSpPr>
          <p:cNvPr id="13" name="文本框 4"/>
          <p:cNvSpPr txBox="1">
            <a:spLocks noChangeArrowheads="1"/>
          </p:cNvSpPr>
          <p:nvPr userDrawn="1"/>
        </p:nvSpPr>
        <p:spPr bwMode="auto">
          <a:xfrm>
            <a:off x="575982" y="236407"/>
            <a:ext cx="3811308" cy="70788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defRPr/>
            </a:pPr>
            <a:r>
              <a:rPr lang="zh-CN" altLang="en-US" sz="4000" b="1" dirty="0">
                <a:ln w="18415" cmpd="sng">
                  <a:noFill/>
                  <a:prstDash val="solid"/>
                </a:ln>
                <a:solidFill>
                  <a:srgbClr val="FFFFFF"/>
                </a:solidFill>
                <a:effectLst/>
                <a:latin typeface="微软雅黑" panose="020B0503020204020204" charset="-122"/>
                <a:ea typeface="微软雅黑" panose="020B0503020204020204" charset="-122"/>
                <a:cs typeface="微软雅黑" panose="020B0503020204020204" charset="-122"/>
              </a:rPr>
              <a:t>目录</a:t>
            </a:r>
          </a:p>
        </p:txBody>
      </p:sp>
      <p:sp>
        <p:nvSpPr>
          <p:cNvPr id="44" name="文本占位符 43"/>
          <p:cNvSpPr>
            <a:spLocks noGrp="1"/>
          </p:cNvSpPr>
          <p:nvPr>
            <p:ph type="body" sz="quarter" idx="13" hasCustomPrompt="1"/>
          </p:nvPr>
        </p:nvSpPr>
        <p:spPr>
          <a:xfrm>
            <a:off x="575982" y="1360047"/>
            <a:ext cx="5932394"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5" y="87640"/>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2" y="1089212"/>
            <a:ext cx="5443818"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2"/>
            <a:ext cx="5443818"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6"/>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2" y="1080661"/>
            <a:ext cx="5421594"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2" y="1815152"/>
            <a:ext cx="5421594"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1"/>
            <a:ext cx="5443818"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8"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32274"/>
            <a:ext cx="12192002" cy="689027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1"/>
          <p:cNvSpPr>
            <a:spLocks noChangeArrowheads="1"/>
          </p:cNvSpPr>
          <p:nvPr userDrawn="1"/>
        </p:nvSpPr>
        <p:spPr bwMode="auto">
          <a:xfrm>
            <a:off x="2737158" y="2424772"/>
            <a:ext cx="8083171" cy="1920526"/>
          </a:xfrm>
          <a:prstGeom prst="rect">
            <a:avLst/>
          </a:prstGeom>
          <a:noFill/>
          <a:ln>
            <a:noFill/>
          </a:ln>
        </p:spPr>
        <p:txBody>
          <a:bodyPr wrap="square">
            <a:spAutoFit/>
          </a:bodyPr>
          <a:lstStyle/>
          <a:p>
            <a:pPr eaLnBrk="1" hangingPunct="1">
              <a:lnSpc>
                <a:spcPct val="135000"/>
              </a:lnSpc>
              <a:buFont typeface="Arial" panose="020B0604020202020204" pitchFamily="34" charset="0"/>
              <a:buNone/>
              <a:defRPr/>
            </a:pPr>
            <a:r>
              <a:rPr lang="zh-CN" altLang="en-US" sz="4400" i="0" dirty="0">
                <a:ln w="18415" cmpd="sng">
                  <a:solidFill>
                    <a:srgbClr val="FFFFFF"/>
                  </a:solidFill>
                  <a:prstDash val="solid"/>
                </a:ln>
                <a:solidFill>
                  <a:srgbClr val="FFFFFF"/>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谢 谢！</a:t>
            </a:r>
            <a:endParaRPr lang="en-US" altLang="zh-CN" sz="4400" i="0" dirty="0">
              <a:ln w="18415" cmpd="sng">
                <a:solidFill>
                  <a:srgbClr val="FFFFFF"/>
                </a:solidFill>
                <a:prstDash val="solid"/>
              </a:ln>
              <a:solidFill>
                <a:srgbClr val="FFFFFF"/>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eaLnBrk="1" hangingPunct="1">
              <a:lnSpc>
                <a:spcPct val="135000"/>
              </a:lnSpc>
              <a:buFont typeface="Arial" panose="020B0604020202020204" pitchFamily="34" charset="0"/>
              <a:buNone/>
              <a:defRPr/>
            </a:pPr>
            <a:r>
              <a:rPr lang="en-US" altLang="zh-CN" sz="4400" i="0" dirty="0">
                <a:ln w="18415" cmpd="sng">
                  <a:solidFill>
                    <a:srgbClr val="FFFFFF"/>
                  </a:solidFill>
                  <a:prstDash val="solid"/>
                </a:ln>
                <a:solidFill>
                  <a:srgbClr val="FFFFFF"/>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rPr>
              <a:t>Thanks!</a:t>
            </a:r>
          </a:p>
        </p:txBody>
      </p:sp>
      <p:sp>
        <p:nvSpPr>
          <p:cNvPr id="11"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21515"/>
            <a:ext cx="12192002"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8"/>
            <a:ext cx="11734800" cy="1655762"/>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10758"/>
            <a:ext cx="12192002" cy="6868758"/>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
        <p:nvSpPr>
          <p:cNvPr id="13" name="文本框 4"/>
          <p:cNvSpPr txBox="1">
            <a:spLocks noChangeArrowheads="1"/>
          </p:cNvSpPr>
          <p:nvPr userDrawn="1"/>
        </p:nvSpPr>
        <p:spPr bwMode="auto">
          <a:xfrm>
            <a:off x="575982" y="236407"/>
            <a:ext cx="3811308" cy="70788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defRPr/>
            </a:pPr>
            <a:r>
              <a:rPr lang="zh-CN" altLang="en-US" sz="4000" b="1" dirty="0">
                <a:ln w="18415" cmpd="sng">
                  <a:noFill/>
                  <a:prstDash val="solid"/>
                </a:ln>
                <a:solidFill>
                  <a:srgbClr val="FFFFFF"/>
                </a:solidFill>
                <a:latin typeface="微软雅黑" panose="020B0503020204020204" charset="-122"/>
                <a:ea typeface="微软雅黑" panose="020B0503020204020204" charset="-122"/>
                <a:cs typeface="微软雅黑" panose="020B0503020204020204" charset="-122"/>
              </a:rPr>
              <a:t>目录</a:t>
            </a:r>
          </a:p>
        </p:txBody>
      </p:sp>
      <p:sp>
        <p:nvSpPr>
          <p:cNvPr id="44" name="文本占位符 43"/>
          <p:cNvSpPr>
            <a:spLocks noGrp="1"/>
          </p:cNvSpPr>
          <p:nvPr>
            <p:ph type="body" sz="quarter" idx="13" hasCustomPrompt="1"/>
          </p:nvPr>
        </p:nvSpPr>
        <p:spPr>
          <a:xfrm>
            <a:off x="575982" y="1360047"/>
            <a:ext cx="5932394"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5" y="87640"/>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2" y="1089212"/>
            <a:ext cx="5443818"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2"/>
            <a:ext cx="5443818"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6"/>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2" y="1080661"/>
            <a:ext cx="5421594"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2" y="1815152"/>
            <a:ext cx="5421594"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1"/>
            <a:ext cx="5443818"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8"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32274"/>
            <a:ext cx="12192002" cy="689027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1"/>
          <p:cNvSpPr>
            <a:spLocks noChangeArrowheads="1"/>
          </p:cNvSpPr>
          <p:nvPr userDrawn="1"/>
        </p:nvSpPr>
        <p:spPr bwMode="auto">
          <a:xfrm>
            <a:off x="2737158" y="2424772"/>
            <a:ext cx="8083171" cy="1920526"/>
          </a:xfrm>
          <a:prstGeom prst="rect">
            <a:avLst/>
          </a:prstGeom>
          <a:noFill/>
          <a:ln>
            <a:noFill/>
          </a:ln>
        </p:spPr>
        <p:txBody>
          <a:bodyPr wrap="square">
            <a:spAutoFit/>
          </a:bodyPr>
          <a:lstStyle/>
          <a:p>
            <a:pPr>
              <a:lnSpc>
                <a:spcPct val="135000"/>
              </a:lnSpc>
              <a:buFont typeface="Arial" panose="020B0604020202020204" pitchFamily="34" charset="0"/>
              <a:buNone/>
              <a:defRPr/>
            </a:pPr>
            <a:r>
              <a:rPr lang="zh-CN" altLang="en-US"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谢 谢！</a:t>
            </a:r>
            <a:endPar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endParaRPr>
          </a:p>
          <a:p>
            <a:pPr>
              <a:lnSpc>
                <a:spcPct val="135000"/>
              </a:lnSpc>
              <a:buFont typeface="Arial" panose="020B0604020202020204" pitchFamily="34" charset="0"/>
              <a:buNone/>
              <a:defRPr/>
            </a:pPr>
            <a:r>
              <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Thanks!</a:t>
            </a:r>
          </a:p>
        </p:txBody>
      </p:sp>
      <p:sp>
        <p:nvSpPr>
          <p:cNvPr id="11"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4"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69951" y="430214"/>
            <a:ext cx="10327216" cy="871537"/>
          </a:xfrm>
        </p:spPr>
        <p:txBody>
          <a:bodyPr/>
          <a:lstStyle/>
          <a:p>
            <a:r>
              <a:rPr lang="zh-CN" altLang="en-US"/>
              <a:t>单击此处编辑母版标题样式</a:t>
            </a:r>
          </a:p>
        </p:txBody>
      </p:sp>
      <p:sp>
        <p:nvSpPr>
          <p:cNvPr id="3" name="表格占位符 2"/>
          <p:cNvSpPr>
            <a:spLocks noGrp="1"/>
          </p:cNvSpPr>
          <p:nvPr>
            <p:ph type="tbl" idx="1"/>
          </p:nvPr>
        </p:nvSpPr>
        <p:spPr>
          <a:xfrm>
            <a:off x="869951" y="1641475"/>
            <a:ext cx="10572749" cy="4194175"/>
          </a:xfrm>
        </p:spPr>
        <p:txBody>
          <a:bodyPr/>
          <a:lstStyle/>
          <a:p>
            <a:pPr lvl="0"/>
            <a:endParaRPr lang="zh-CN" altLang="en-US" noProof="0"/>
          </a:p>
        </p:txBody>
      </p:sp>
      <p:sp>
        <p:nvSpPr>
          <p:cNvPr id="4" name="Rectangle 10"/>
          <p:cNvSpPr>
            <a:spLocks noGrp="1" noChangeArrowheads="1"/>
          </p:cNvSpPr>
          <p:nvPr>
            <p:ph type="dt" sz="half" idx="10"/>
          </p:nvPr>
        </p:nvSpPr>
        <p:spPr>
          <a:xfrm>
            <a:off x="8481485" y="6489701"/>
            <a:ext cx="2796116" cy="455613"/>
          </a:xfrm>
          <a:prstGeom prst="rect">
            <a:avLst/>
          </a:prstGeom>
        </p:spPr>
        <p:txBody>
          <a:bodyPr/>
          <a:lstStyle>
            <a:lvl1pPr>
              <a:defRPr/>
            </a:lvl1pPr>
          </a:lstStyle>
          <a:p>
            <a:pPr>
              <a:defRPr/>
            </a:pPr>
            <a:r>
              <a:rPr lang="de-DE" altLang="zh-CN">
                <a:solidFill>
                  <a:prstClr val="black"/>
                </a:solidFill>
              </a:rPr>
              <a:t>Page </a:t>
            </a:r>
            <a:fld id="{72511823-EFB4-4854-9554-2A08A32A2840}" type="slidenum">
              <a:rPr lang="de-DE" altLang="zh-CN">
                <a:solidFill>
                  <a:prstClr val="black"/>
                </a:solidFill>
              </a:rPr>
              <a:t>‹#›</a:t>
            </a:fld>
            <a:endParaRPr lang="en-GB" altLang="zh-CN">
              <a:solidFill>
                <a:prstClr val="black"/>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69951" y="430214"/>
            <a:ext cx="10572749" cy="5405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1485" y="6489701"/>
            <a:ext cx="2796116" cy="455613"/>
          </a:xfrm>
          <a:prstGeom prst="rect">
            <a:avLst/>
          </a:prstGeom>
        </p:spPr>
        <p:txBody>
          <a:bodyPr/>
          <a:lstStyle>
            <a:lvl1pPr>
              <a:defRPr/>
            </a:lvl1pPr>
          </a:lstStyle>
          <a:p>
            <a:pPr>
              <a:defRPr/>
            </a:pPr>
            <a:r>
              <a:rPr lang="de-DE" altLang="zh-CN">
                <a:solidFill>
                  <a:prstClr val="black"/>
                </a:solidFill>
              </a:rPr>
              <a:t>Page </a:t>
            </a:r>
            <a:fld id="{EE5BE6C6-B552-4EDE-B873-547A8FEDC43F}" type="slidenum">
              <a:rPr lang="de-DE" altLang="zh-CN">
                <a:solidFill>
                  <a:prstClr val="black"/>
                </a:solidFill>
              </a:rPr>
              <a:t>‹#›</a:t>
            </a:fld>
            <a:endParaRPr lang="en-GB" altLang="zh-CN">
              <a:solidFill>
                <a:prstClr val="black"/>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0599" y="431347"/>
            <a:ext cx="10327469" cy="870857"/>
          </a:xfrm>
        </p:spPr>
        <p:txBody>
          <a:bodyPr/>
          <a:lstStyle/>
          <a:p>
            <a:r>
              <a:rPr lang="zh-CN" altLang="en-US"/>
              <a:t>单击此处编辑母版标题样式</a:t>
            </a:r>
          </a:p>
        </p:txBody>
      </p:sp>
      <p:sp>
        <p:nvSpPr>
          <p:cNvPr id="3" name="文本占位符 2"/>
          <p:cNvSpPr>
            <a:spLocks noGrp="1"/>
          </p:cNvSpPr>
          <p:nvPr>
            <p:ph type="body" sz="half" idx="1"/>
          </p:nvPr>
        </p:nvSpPr>
        <p:spPr>
          <a:xfrm>
            <a:off x="870598" y="1643743"/>
            <a:ext cx="5198196" cy="419236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2914" y="1643743"/>
            <a:ext cx="5200010" cy="419236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xfrm>
            <a:off x="8481077" y="6489247"/>
            <a:ext cx="2796796" cy="455839"/>
          </a:xfrm>
          <a:prstGeom prst="rect">
            <a:avLst/>
          </a:prstGeom>
        </p:spPr>
        <p:txBody>
          <a:bodyPr/>
          <a:lstStyle>
            <a:lvl1pPr>
              <a:defRPr/>
            </a:lvl1pPr>
          </a:lstStyle>
          <a:p>
            <a:r>
              <a:rPr lang="de-DE" altLang="zh-CN">
                <a:solidFill>
                  <a:prstClr val="black"/>
                </a:solidFill>
              </a:rPr>
              <a:t>Page </a:t>
            </a:r>
            <a:fld id="{5A6649D8-1B93-446D-92EC-0ED41B5A6BCC}" type="slidenum">
              <a:rPr lang="de-DE" altLang="zh-CN">
                <a:solidFill>
                  <a:prstClr val="black"/>
                </a:solidFill>
              </a:rPr>
              <a:t>‹#›</a:t>
            </a:fld>
            <a:endParaRPr lang="en-GB" altLang="zh-CN">
              <a:solidFill>
                <a:prstClr val="black"/>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日期占位符 2"/>
          <p:cNvSpPr>
            <a:spLocks noGrp="1"/>
          </p:cNvSpPr>
          <p:nvPr>
            <p:ph type="dt" sz="half" idx="10"/>
          </p:nvPr>
        </p:nvSpPr>
        <p:spPr>
          <a:xfrm>
            <a:off x="609600" y="6356351"/>
            <a:ext cx="2844800" cy="365125"/>
          </a:xfrm>
          <a:prstGeom prst="rect">
            <a:avLst/>
          </a:prstGeom>
        </p:spPr>
        <p:txBody>
          <a:bodyPr/>
          <a:lstStyle>
            <a:lvl1pPr>
              <a:defRPr/>
            </a:lvl1pPr>
          </a:lstStyle>
          <a:p>
            <a:fld id="{7CC606D0-3763-45FD-B018-0766D849D4DC}" type="datetime1">
              <a:rPr lang="zh-CN" altLang="en-US">
                <a:solidFill>
                  <a:prstClr val="black"/>
                </a:solidFill>
              </a:rPr>
              <a:t>2026/2/2</a:t>
            </a:fld>
            <a:endParaRPr lang="zh-CN" altLang="en-US">
              <a:solidFill>
                <a:prstClr val="black"/>
              </a:solidFill>
            </a:endParaRPr>
          </a:p>
        </p:txBody>
      </p:sp>
      <p:sp>
        <p:nvSpPr>
          <p:cNvPr id="4" name="页脚占位符 3"/>
          <p:cNvSpPr>
            <a:spLocks noGrp="1"/>
          </p:cNvSpPr>
          <p:nvPr>
            <p:ph type="ftr" sz="quarter" idx="11"/>
          </p:nvPr>
        </p:nvSpPr>
        <p:spPr>
          <a:xfrm>
            <a:off x="4165600" y="6356351"/>
            <a:ext cx="3860800" cy="365125"/>
          </a:xfrm>
          <a:prstGeom prst="rect">
            <a:avLst/>
          </a:prstGeom>
        </p:spPr>
        <p:txBody>
          <a:bodyPr/>
          <a:lstStyle>
            <a:lvl1pPr>
              <a:defRPr/>
            </a:lvl1pPr>
          </a:lstStyle>
          <a:p>
            <a:endParaRPr lang="zh-CN" altLang="zh-CN">
              <a:solidFill>
                <a:prstClr val="black"/>
              </a:solidFill>
            </a:endParaRPr>
          </a:p>
        </p:txBody>
      </p:sp>
      <p:sp>
        <p:nvSpPr>
          <p:cNvPr id="5" name="灯片编号占位符 4"/>
          <p:cNvSpPr>
            <a:spLocks noGrp="1"/>
          </p:cNvSpPr>
          <p:nvPr>
            <p:ph type="sldNum" sz="quarter" idx="12"/>
          </p:nvPr>
        </p:nvSpPr>
        <p:spPr>
          <a:xfrm>
            <a:off x="8737600" y="6356351"/>
            <a:ext cx="2844800" cy="365125"/>
          </a:xfrm>
        </p:spPr>
        <p:txBody>
          <a:bodyPr/>
          <a:lstStyle>
            <a:lvl1pPr>
              <a:defRPr/>
            </a:lvl1pPr>
          </a:lstStyle>
          <a:p>
            <a:fld id="{CD8258C4-E5AA-4754-B620-AE70F462EF84}" type="slidenum">
              <a:rPr lang="zh-CN" altLang="en-US">
                <a:solidFill>
                  <a:prstClr val="black">
                    <a:tint val="75000"/>
                  </a:prstClr>
                </a:solidFill>
              </a:rPr>
              <a:t>‹#›</a:t>
            </a:fld>
            <a:endParaRPr lang="zh-CN" altLang="en-US" sz="1800">
              <a:solidFill>
                <a:prstClr val="black"/>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21515"/>
            <a:ext cx="12192002"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8"/>
            <a:ext cx="11734800" cy="1655762"/>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10758"/>
            <a:ext cx="12192002" cy="6868758"/>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
        <p:nvSpPr>
          <p:cNvPr id="13" name="文本框 4"/>
          <p:cNvSpPr txBox="1">
            <a:spLocks noChangeArrowheads="1"/>
          </p:cNvSpPr>
          <p:nvPr userDrawn="1"/>
        </p:nvSpPr>
        <p:spPr bwMode="auto">
          <a:xfrm>
            <a:off x="575982" y="236407"/>
            <a:ext cx="3811308" cy="70788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defRPr/>
            </a:pPr>
            <a:r>
              <a:rPr lang="zh-CN" altLang="en-US" sz="4000" b="1" dirty="0">
                <a:ln w="18415" cmpd="sng">
                  <a:noFill/>
                  <a:prstDash val="solid"/>
                </a:ln>
                <a:solidFill>
                  <a:srgbClr val="FFFFFF"/>
                </a:solidFill>
                <a:latin typeface="微软雅黑" panose="020B0503020204020204" charset="-122"/>
                <a:ea typeface="微软雅黑" panose="020B0503020204020204" charset="-122"/>
                <a:cs typeface="微软雅黑" panose="020B0503020204020204" charset="-122"/>
              </a:rPr>
              <a:t>目录</a:t>
            </a:r>
          </a:p>
        </p:txBody>
      </p:sp>
      <p:sp>
        <p:nvSpPr>
          <p:cNvPr id="44" name="文本占位符 43"/>
          <p:cNvSpPr>
            <a:spLocks noGrp="1"/>
          </p:cNvSpPr>
          <p:nvPr>
            <p:ph type="body" sz="quarter" idx="13" hasCustomPrompt="1"/>
          </p:nvPr>
        </p:nvSpPr>
        <p:spPr>
          <a:xfrm>
            <a:off x="575982" y="1360047"/>
            <a:ext cx="5932394"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5" y="87640"/>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2" y="1089212"/>
            <a:ext cx="5443818"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2"/>
            <a:ext cx="5443818"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6"/>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2" y="1080661"/>
            <a:ext cx="5421594"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2" y="1815152"/>
            <a:ext cx="5421594"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1"/>
            <a:ext cx="5443818"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8"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3513" r="14530" b="4258"/>
          <a:stretch>
            <a:fillRect/>
          </a:stretch>
        </p:blipFill>
        <p:spPr bwMode="auto">
          <a:xfrm>
            <a:off x="-2" y="-32274"/>
            <a:ext cx="12192002" cy="689027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1"/>
          <p:cNvSpPr>
            <a:spLocks noChangeArrowheads="1"/>
          </p:cNvSpPr>
          <p:nvPr userDrawn="1"/>
        </p:nvSpPr>
        <p:spPr bwMode="auto">
          <a:xfrm>
            <a:off x="2737158" y="2424772"/>
            <a:ext cx="8083171" cy="1920526"/>
          </a:xfrm>
          <a:prstGeom prst="rect">
            <a:avLst/>
          </a:prstGeom>
          <a:noFill/>
          <a:ln>
            <a:noFill/>
          </a:ln>
        </p:spPr>
        <p:txBody>
          <a:bodyPr wrap="square">
            <a:spAutoFit/>
          </a:bodyPr>
          <a:lstStyle/>
          <a:p>
            <a:pPr>
              <a:lnSpc>
                <a:spcPct val="135000"/>
              </a:lnSpc>
              <a:buFont typeface="Arial" panose="020B0604020202020204" pitchFamily="34" charset="0"/>
              <a:buNone/>
              <a:defRPr/>
            </a:pPr>
            <a:r>
              <a:rPr lang="zh-CN" altLang="en-US"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谢 谢！</a:t>
            </a:r>
            <a:endPar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endParaRPr>
          </a:p>
          <a:p>
            <a:pPr>
              <a:lnSpc>
                <a:spcPct val="135000"/>
              </a:lnSpc>
              <a:buFont typeface="Arial" panose="020B0604020202020204" pitchFamily="34" charset="0"/>
              <a:buNone/>
              <a:defRPr/>
            </a:pPr>
            <a:r>
              <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Thanks!</a:t>
            </a:r>
          </a:p>
        </p:txBody>
      </p:sp>
      <p:sp>
        <p:nvSpPr>
          <p:cNvPr id="11"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4"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69951" y="430214"/>
            <a:ext cx="10327216" cy="871537"/>
          </a:xfrm>
        </p:spPr>
        <p:txBody>
          <a:bodyPr/>
          <a:lstStyle/>
          <a:p>
            <a:r>
              <a:rPr lang="zh-CN" altLang="en-US"/>
              <a:t>单击此处编辑母版标题样式</a:t>
            </a:r>
          </a:p>
        </p:txBody>
      </p:sp>
      <p:sp>
        <p:nvSpPr>
          <p:cNvPr id="3" name="表格占位符 2"/>
          <p:cNvSpPr>
            <a:spLocks noGrp="1"/>
          </p:cNvSpPr>
          <p:nvPr>
            <p:ph type="tbl" idx="1"/>
          </p:nvPr>
        </p:nvSpPr>
        <p:spPr>
          <a:xfrm>
            <a:off x="869951" y="1641475"/>
            <a:ext cx="10572749" cy="4194175"/>
          </a:xfrm>
        </p:spPr>
        <p:txBody>
          <a:bodyPr/>
          <a:lstStyle/>
          <a:p>
            <a:pPr lvl="0"/>
            <a:endParaRPr lang="zh-CN" altLang="en-US" noProof="0"/>
          </a:p>
        </p:txBody>
      </p:sp>
      <p:sp>
        <p:nvSpPr>
          <p:cNvPr id="4" name="Rectangle 10"/>
          <p:cNvSpPr>
            <a:spLocks noGrp="1" noChangeArrowheads="1"/>
          </p:cNvSpPr>
          <p:nvPr>
            <p:ph type="dt" sz="half" idx="10"/>
          </p:nvPr>
        </p:nvSpPr>
        <p:spPr>
          <a:xfrm>
            <a:off x="8481485" y="6489701"/>
            <a:ext cx="2796116" cy="455613"/>
          </a:xfrm>
          <a:prstGeom prst="rect">
            <a:avLst/>
          </a:prstGeom>
        </p:spPr>
        <p:txBody>
          <a:bodyPr/>
          <a:lstStyle>
            <a:lvl1pPr>
              <a:defRPr/>
            </a:lvl1pPr>
          </a:lstStyle>
          <a:p>
            <a:pPr>
              <a:defRPr/>
            </a:pPr>
            <a:r>
              <a:rPr lang="de-DE" altLang="zh-CN">
                <a:solidFill>
                  <a:prstClr val="black"/>
                </a:solidFill>
              </a:rPr>
              <a:t>Page </a:t>
            </a:r>
            <a:fld id="{72511823-EFB4-4854-9554-2A08A32A2840}" type="slidenum">
              <a:rPr lang="de-DE" altLang="zh-CN">
                <a:solidFill>
                  <a:prstClr val="black"/>
                </a:solidFill>
              </a:rPr>
              <a:t>‹#›</a:t>
            </a:fld>
            <a:endParaRPr lang="en-GB" altLang="zh-CN">
              <a:solidFill>
                <a:prstClr val="black"/>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69951" y="430214"/>
            <a:ext cx="10572749" cy="5405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1485" y="6489701"/>
            <a:ext cx="2796116" cy="455613"/>
          </a:xfrm>
          <a:prstGeom prst="rect">
            <a:avLst/>
          </a:prstGeom>
        </p:spPr>
        <p:txBody>
          <a:bodyPr/>
          <a:lstStyle>
            <a:lvl1pPr>
              <a:defRPr/>
            </a:lvl1pPr>
          </a:lstStyle>
          <a:p>
            <a:pPr>
              <a:defRPr/>
            </a:pPr>
            <a:r>
              <a:rPr lang="de-DE" altLang="zh-CN">
                <a:solidFill>
                  <a:prstClr val="black"/>
                </a:solidFill>
              </a:rPr>
              <a:t>Page </a:t>
            </a:r>
            <a:fld id="{EE5BE6C6-B552-4EDE-B873-547A8FEDC43F}" type="slidenum">
              <a:rPr lang="de-DE" altLang="zh-CN">
                <a:solidFill>
                  <a:prstClr val="black"/>
                </a:solidFill>
              </a:rPr>
              <a:t>‹#›</a:t>
            </a:fld>
            <a:endParaRPr lang="en-GB" altLang="zh-CN">
              <a:solidFill>
                <a:prstClr val="black"/>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0599" y="431347"/>
            <a:ext cx="10327469" cy="870857"/>
          </a:xfrm>
        </p:spPr>
        <p:txBody>
          <a:bodyPr/>
          <a:lstStyle/>
          <a:p>
            <a:r>
              <a:rPr lang="zh-CN" altLang="en-US"/>
              <a:t>单击此处编辑母版标题样式</a:t>
            </a:r>
          </a:p>
        </p:txBody>
      </p:sp>
      <p:sp>
        <p:nvSpPr>
          <p:cNvPr id="3" name="文本占位符 2"/>
          <p:cNvSpPr>
            <a:spLocks noGrp="1"/>
          </p:cNvSpPr>
          <p:nvPr>
            <p:ph type="body" sz="half" idx="1"/>
          </p:nvPr>
        </p:nvSpPr>
        <p:spPr>
          <a:xfrm>
            <a:off x="870598" y="1643743"/>
            <a:ext cx="5198196" cy="419236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2914" y="1643743"/>
            <a:ext cx="5200010" cy="419236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xfrm>
            <a:off x="8481077" y="6489247"/>
            <a:ext cx="2796796" cy="455839"/>
          </a:xfrm>
          <a:prstGeom prst="rect">
            <a:avLst/>
          </a:prstGeom>
        </p:spPr>
        <p:txBody>
          <a:bodyPr/>
          <a:lstStyle>
            <a:lvl1pPr>
              <a:defRPr/>
            </a:lvl1pPr>
          </a:lstStyle>
          <a:p>
            <a:r>
              <a:rPr lang="de-DE" altLang="zh-CN">
                <a:solidFill>
                  <a:prstClr val="black"/>
                </a:solidFill>
              </a:rPr>
              <a:t>Page </a:t>
            </a:r>
            <a:fld id="{5A6649D8-1B93-446D-92EC-0ED41B5A6BCC}" type="slidenum">
              <a:rPr lang="de-DE" altLang="zh-CN">
                <a:solidFill>
                  <a:prstClr val="black"/>
                </a:solidFill>
              </a:rPr>
              <a:t>‹#›</a:t>
            </a:fld>
            <a:endParaRPr lang="en-GB" altLang="zh-CN">
              <a:solidFill>
                <a:prstClr val="black"/>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日期占位符 2"/>
          <p:cNvSpPr>
            <a:spLocks noGrp="1"/>
          </p:cNvSpPr>
          <p:nvPr>
            <p:ph type="dt" sz="half" idx="10"/>
          </p:nvPr>
        </p:nvSpPr>
        <p:spPr>
          <a:xfrm>
            <a:off x="609600" y="6356351"/>
            <a:ext cx="2844800" cy="365125"/>
          </a:xfrm>
          <a:prstGeom prst="rect">
            <a:avLst/>
          </a:prstGeom>
        </p:spPr>
        <p:txBody>
          <a:bodyPr/>
          <a:lstStyle>
            <a:lvl1pPr>
              <a:defRPr/>
            </a:lvl1pPr>
          </a:lstStyle>
          <a:p>
            <a:fld id="{7CC606D0-3763-45FD-B018-0766D849D4DC}" type="datetime1">
              <a:rPr lang="zh-CN" altLang="en-US">
                <a:solidFill>
                  <a:prstClr val="black"/>
                </a:solidFill>
              </a:rPr>
              <a:t>2026/2/2</a:t>
            </a:fld>
            <a:endParaRPr lang="zh-CN" altLang="en-US">
              <a:solidFill>
                <a:prstClr val="black"/>
              </a:solidFill>
            </a:endParaRPr>
          </a:p>
        </p:txBody>
      </p:sp>
      <p:sp>
        <p:nvSpPr>
          <p:cNvPr id="4" name="页脚占位符 3"/>
          <p:cNvSpPr>
            <a:spLocks noGrp="1"/>
          </p:cNvSpPr>
          <p:nvPr>
            <p:ph type="ftr" sz="quarter" idx="11"/>
          </p:nvPr>
        </p:nvSpPr>
        <p:spPr>
          <a:xfrm>
            <a:off x="4165600" y="6356351"/>
            <a:ext cx="3860800" cy="365125"/>
          </a:xfrm>
          <a:prstGeom prst="rect">
            <a:avLst/>
          </a:prstGeom>
        </p:spPr>
        <p:txBody>
          <a:bodyPr/>
          <a:lstStyle>
            <a:lvl1pPr>
              <a:defRPr/>
            </a:lvl1pPr>
          </a:lstStyle>
          <a:p>
            <a:endParaRPr lang="zh-CN" altLang="zh-CN">
              <a:solidFill>
                <a:prstClr val="black"/>
              </a:solidFill>
            </a:endParaRPr>
          </a:p>
        </p:txBody>
      </p:sp>
      <p:sp>
        <p:nvSpPr>
          <p:cNvPr id="5" name="灯片编号占位符 4"/>
          <p:cNvSpPr>
            <a:spLocks noGrp="1"/>
          </p:cNvSpPr>
          <p:nvPr>
            <p:ph type="sldNum" sz="quarter" idx="12"/>
          </p:nvPr>
        </p:nvSpPr>
        <p:spPr>
          <a:xfrm>
            <a:off x="8737600" y="6356351"/>
            <a:ext cx="2844800" cy="365125"/>
          </a:xfrm>
        </p:spPr>
        <p:txBody>
          <a:bodyPr/>
          <a:lstStyle>
            <a:lvl1pPr>
              <a:defRPr/>
            </a:lvl1pPr>
          </a:lstStyle>
          <a:p>
            <a:fld id="{CD8258C4-E5AA-4754-B620-AE70F462EF84}" type="slidenum">
              <a:rPr lang="zh-CN" altLang="en-US">
                <a:solidFill>
                  <a:prstClr val="black">
                    <a:tint val="75000"/>
                  </a:prstClr>
                </a:solidFill>
              </a:rPr>
              <a:t>‹#›</a:t>
            </a:fld>
            <a:endParaRPr lang="zh-CN" altLang="en-US" sz="1800">
              <a:solidFill>
                <a:prstClr val="black"/>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image" Target="../media/image3.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image" Target="../media/image2.png"/><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6" Type="http://schemas.openxmlformats.org/officeDocument/2006/relationships/image" Target="../media/image3.png"/><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image" Target="../media/image2.png"/><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图片 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0" y="87640"/>
            <a:ext cx="9000132" cy="64769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2" y="1089212"/>
            <a:ext cx="11040036" cy="50877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2" y="6356350"/>
            <a:ext cx="1139636"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fld id="{4B1B0860-3CE7-4EC1-80B2-E4FAEF86BBEB}" type="slidenum">
              <a:rPr lang="zh-CN" altLang="en-US" smtClean="0"/>
              <a:t>‹#›</a:t>
            </a:fld>
            <a:endParaRPr lang="zh-CN" altLang="en-US"/>
          </a:p>
        </p:txBody>
      </p:sp>
      <p:pic>
        <p:nvPicPr>
          <p:cNvPr id="11" name="Picture 2" descr="F:\Design\CSI Default\brand\中软国际LOGO_白.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403481" y="139848"/>
            <a:ext cx="1253590"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785987" y="111319"/>
            <a:ext cx="1086090" cy="59867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图片 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0" y="87640"/>
            <a:ext cx="9000132" cy="64769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2" y="1089212"/>
            <a:ext cx="11040036" cy="50877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2" y="6356350"/>
            <a:ext cx="1139636"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pic>
        <p:nvPicPr>
          <p:cNvPr id="11" name="Picture 2" descr="F:\Design\CSI Default\brand\中软国际LOGO_白.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403481" y="139848"/>
            <a:ext cx="1253590"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785987" y="111319"/>
            <a:ext cx="1086090" cy="598674"/>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图片 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0" y="87640"/>
            <a:ext cx="9000132" cy="64769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2" y="1089212"/>
            <a:ext cx="11040036" cy="50877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2" y="6356350"/>
            <a:ext cx="1139636"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pic>
        <p:nvPicPr>
          <p:cNvPr id="11" name="Picture 2" descr="F:\Design\CSI Default\brand\中软国际LOGO_白.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403481" y="139848"/>
            <a:ext cx="1253590"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785987" y="111319"/>
            <a:ext cx="1086090" cy="598674"/>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jpeg"/></Relationships>
</file>

<file path=ppt/slides/_rels/slide1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B1B0860-3CE7-4EC1-80B2-E4FAEF86BBEB}" type="slidenum">
              <a:rPr lang="zh-CN" altLang="en-US" smtClean="0"/>
              <a:t>1</a:t>
            </a:fld>
            <a:endParaRPr lang="zh-CN" altLang="en-US"/>
          </a:p>
        </p:txBody>
      </p:sp>
      <p:sp>
        <p:nvSpPr>
          <p:cNvPr id="3" name="文本占位符 2"/>
          <p:cNvSpPr>
            <a:spLocks noGrp="1"/>
          </p:cNvSpPr>
          <p:nvPr>
            <p:ph type="body" sz="quarter" idx="13"/>
          </p:nvPr>
        </p:nvSpPr>
        <p:spPr>
          <a:xfrm>
            <a:off x="2373780" y="1317565"/>
            <a:ext cx="3507068" cy="4222869"/>
          </a:xfrm>
        </p:spPr>
        <p:txBody>
          <a:bodyPr>
            <a:normAutofit/>
          </a:bodyPr>
          <a:lstStyle/>
          <a:p>
            <a:pPr marL="342900" indent="-342900">
              <a:spcBef>
                <a:spcPts val="600"/>
              </a:spcBef>
              <a:buFont typeface="Wingdings" panose="05000000000000000000" pitchFamily="2" charset="2"/>
              <a:buChar char="Ø"/>
            </a:pPr>
            <a:r>
              <a:rPr lang="zh-CN" altLang="en-US" b="1" dirty="0">
                <a:latin typeface="+mn-ea"/>
              </a:rPr>
              <a:t>一、产品定位分析</a:t>
            </a:r>
            <a:endParaRPr lang="en-US" altLang="zh-CN" b="1" dirty="0">
              <a:latin typeface="+mn-ea"/>
            </a:endParaRPr>
          </a:p>
          <a:p>
            <a:pPr marL="342900" indent="-342900">
              <a:spcBef>
                <a:spcPts val="600"/>
              </a:spcBef>
              <a:buFont typeface="Wingdings" panose="05000000000000000000" pitchFamily="2" charset="2"/>
              <a:buChar char="Ø"/>
            </a:pPr>
            <a:r>
              <a:rPr lang="zh-CN" altLang="en-US" b="1" dirty="0">
                <a:latin typeface="+mn-ea"/>
              </a:rPr>
              <a:t>二、产品架构规划</a:t>
            </a:r>
            <a:endParaRPr lang="en-US" altLang="zh-CN" b="1" dirty="0">
              <a:latin typeface="+mn-ea"/>
            </a:endParaRPr>
          </a:p>
          <a:p>
            <a:pPr marL="342900" indent="-342900">
              <a:spcBef>
                <a:spcPts val="600"/>
              </a:spcBef>
              <a:buFont typeface="Wingdings" panose="05000000000000000000" pitchFamily="2" charset="2"/>
              <a:buChar char="Ø"/>
            </a:pPr>
            <a:r>
              <a:rPr lang="zh-CN" altLang="en-US" b="1" dirty="0">
                <a:latin typeface="+mn-ea"/>
              </a:rPr>
              <a:t>三、直播发布系统</a:t>
            </a:r>
            <a:endParaRPr lang="en-US" altLang="zh-CN" b="1" dirty="0">
              <a:latin typeface="+mn-ea"/>
            </a:endParaRPr>
          </a:p>
          <a:p>
            <a:pPr marL="342900" indent="-342900">
              <a:spcBef>
                <a:spcPts val="600"/>
              </a:spcBef>
              <a:buFont typeface="Wingdings" panose="05000000000000000000" pitchFamily="2" charset="2"/>
              <a:buChar char="Ø"/>
            </a:pPr>
            <a:r>
              <a:rPr lang="zh-CN" altLang="en-US" b="1" dirty="0">
                <a:latin typeface="+mn-ea"/>
              </a:rPr>
              <a:t>四、互动活动系统</a:t>
            </a:r>
            <a:endParaRPr lang="en-US" altLang="zh-CN" b="1" dirty="0">
              <a:latin typeface="+mn-ea"/>
            </a:endParaRPr>
          </a:p>
          <a:p>
            <a:pPr marL="342900" indent="-342900">
              <a:spcBef>
                <a:spcPts val="600"/>
              </a:spcBef>
              <a:buFont typeface="Wingdings" panose="05000000000000000000" pitchFamily="2" charset="2"/>
              <a:buChar char="Ø"/>
            </a:pPr>
            <a:r>
              <a:rPr lang="zh-CN" altLang="en-US" b="1" dirty="0">
                <a:latin typeface="+mn-ea"/>
              </a:rPr>
              <a:t>五、问答管理系统</a:t>
            </a:r>
            <a:endParaRPr lang="en-US" altLang="zh-CN" b="1" dirty="0">
              <a:latin typeface="+mn-ea"/>
            </a:endParaRPr>
          </a:p>
          <a:p>
            <a:pPr marL="342900" indent="-342900">
              <a:spcBef>
                <a:spcPts val="600"/>
              </a:spcBef>
              <a:buFont typeface="Wingdings" panose="05000000000000000000" pitchFamily="2" charset="2"/>
              <a:buChar char="Ø"/>
            </a:pPr>
            <a:r>
              <a:rPr lang="zh-CN" altLang="en-US" b="1" dirty="0">
                <a:latin typeface="+mn-ea"/>
              </a:rPr>
              <a:t>六、用户激励系统</a:t>
            </a:r>
            <a:endParaRPr lang="en-US" altLang="zh-CN" b="1" dirty="0">
              <a:latin typeface="+mn-ea"/>
            </a:endParaRPr>
          </a:p>
          <a:p>
            <a:pPr marL="342900" indent="-342900">
              <a:spcBef>
                <a:spcPts val="600"/>
              </a:spcBef>
              <a:buFont typeface="Wingdings" panose="05000000000000000000" pitchFamily="2" charset="2"/>
              <a:buChar char="Ø"/>
            </a:pPr>
            <a:endParaRPr lang="en-US" altLang="zh-CN" b="1" dirty="0">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p:cNvSpPr/>
          <p:nvPr>
            <p:custDataLst>
              <p:tags r:id="rId1"/>
            </p:custDataLst>
          </p:nvPr>
        </p:nvSpPr>
        <p:spPr>
          <a:xfrm>
            <a:off x="375285" y="1718945"/>
            <a:ext cx="4320000" cy="1746885"/>
          </a:xfrm>
          <a:prstGeom prst="rect">
            <a:avLst/>
          </a:prstGeom>
          <a:solidFill>
            <a:sysClr val="window" lastClr="FFFFFF">
              <a:alpha val="87000"/>
            </a:sysClr>
          </a:solidFill>
          <a:ln>
            <a:solidFill>
              <a:srgbClr val="9BBB59"/>
            </a:solid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产品定位分析</a:t>
            </a:r>
            <a:endParaRPr lang="en-US" altLang="zh-CN" dirty="0">
              <a:latin typeface="+mn-ea"/>
            </a:endParaRPr>
          </a:p>
        </p:txBody>
      </p:sp>
      <p:sp>
        <p:nvSpPr>
          <p:cNvPr id="8" name="灯片编号占位符 11"/>
          <p:cNvSpPr>
            <a:spLocks noGrp="1"/>
          </p:cNvSpPr>
          <p:nvPr>
            <p:ph type="sldNum" sz="quarter" idx="4294967295"/>
          </p:nvPr>
        </p:nvSpPr>
        <p:spPr>
          <a:xfrm>
            <a:off x="11079923" y="6453335"/>
            <a:ext cx="828576" cy="396000"/>
          </a:xfrm>
          <a:prstGeom prst="rect">
            <a:avLst/>
          </a:prstGeom>
        </p:spPr>
        <p:txBody>
          <a:bodyPr vert="horz" lIns="103903" tIns="51952" rIns="103903" bIns="51952" rtlCol="0" anchor="ctr"/>
          <a:lstStyle/>
          <a:p>
            <a:pPr algn="r"/>
            <a:fld id="{7204455A-B50D-4EE0-9457-4095C6374F78}" type="slidenum">
              <a:rPr lang="zh-CN" altLang="en-US" smtClean="0"/>
              <a:t>2</a:t>
            </a:fld>
            <a:endParaRPr lang="zh-CN" altLang="en-US" dirty="0"/>
          </a:p>
        </p:txBody>
      </p:sp>
      <p:sp>
        <p:nvSpPr>
          <p:cNvPr id="47" name="矩形 46"/>
          <p:cNvSpPr/>
          <p:nvPr>
            <p:custDataLst>
              <p:tags r:id="rId2"/>
            </p:custDataLst>
          </p:nvPr>
        </p:nvSpPr>
        <p:spPr>
          <a:xfrm>
            <a:off x="7659765" y="4049130"/>
            <a:ext cx="4320000" cy="810000"/>
          </a:xfrm>
          <a:prstGeom prst="rect">
            <a:avLst/>
          </a:prstGeom>
          <a:solidFill>
            <a:srgbClr val="C0504D"/>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r>
              <a:rPr lang="zh-CN" altLang="en-US" b="1">
                <a:solidFill>
                  <a:prstClr val="white"/>
                </a:solidFill>
                <a:latin typeface="+mj-ea"/>
                <a:ea typeface="+mj-ea"/>
              </a:rPr>
              <a:t>直播互动活动管理平台</a:t>
            </a:r>
          </a:p>
        </p:txBody>
      </p:sp>
      <p:sp>
        <p:nvSpPr>
          <p:cNvPr id="48" name="矩形 47"/>
          <p:cNvSpPr/>
          <p:nvPr>
            <p:custDataLst>
              <p:tags r:id="rId3"/>
            </p:custDataLst>
          </p:nvPr>
        </p:nvSpPr>
        <p:spPr>
          <a:xfrm>
            <a:off x="7660005" y="4860290"/>
            <a:ext cx="4320000" cy="1800000"/>
          </a:xfrm>
          <a:prstGeom prst="rect">
            <a:avLst/>
          </a:prstGeom>
          <a:solidFill>
            <a:sysClr val="window" lastClr="FFFFFF">
              <a:alpha val="87000"/>
            </a:sysClr>
          </a:solidFill>
          <a:ln>
            <a:solidFill>
              <a:srgbClr val="C0504D"/>
            </a:solid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solidFill>
                <a:prstClr val="white"/>
              </a:solidFill>
            </a:endParaRPr>
          </a:p>
        </p:txBody>
      </p:sp>
      <p:sp>
        <p:nvSpPr>
          <p:cNvPr id="55" name="MH_Text_1"/>
          <p:cNvSpPr txBox="1">
            <a:spLocks noChangeArrowheads="1"/>
          </p:cNvSpPr>
          <p:nvPr>
            <p:custDataLst>
              <p:tags r:id="rId4"/>
            </p:custDataLst>
          </p:nvPr>
        </p:nvSpPr>
        <p:spPr bwMode="auto">
          <a:xfrm>
            <a:off x="541020" y="1785620"/>
            <a:ext cx="3988435" cy="978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ysClr val="windowText" lastClr="000000"/>
                </a:solidFill>
                <a:latin typeface="Calibri" panose="020F0502020204030204" charset="0"/>
                <a:ea typeface="宋体" panose="02010600030101010101" pitchFamily="2" charset="-122"/>
              </a:defRPr>
            </a:lvl1pPr>
            <a:lvl2pPr marL="742950" indent="-285750">
              <a:defRPr>
                <a:solidFill>
                  <a:sysClr val="windowText" lastClr="000000"/>
                </a:solidFill>
                <a:latin typeface="Calibri" panose="020F0502020204030204" charset="0"/>
                <a:ea typeface="宋体" panose="02010600030101010101" pitchFamily="2" charset="-122"/>
              </a:defRPr>
            </a:lvl2pPr>
            <a:lvl3pPr marL="1143000" indent="-228600">
              <a:defRPr>
                <a:solidFill>
                  <a:sysClr val="windowText" lastClr="000000"/>
                </a:solidFill>
                <a:latin typeface="Calibri" panose="020F0502020204030204" charset="0"/>
                <a:ea typeface="宋体" panose="02010600030101010101" pitchFamily="2" charset="-122"/>
              </a:defRPr>
            </a:lvl3pPr>
            <a:lvl4pPr marL="1600200" indent="-228600">
              <a:defRPr>
                <a:solidFill>
                  <a:sysClr val="windowText" lastClr="000000"/>
                </a:solidFill>
                <a:latin typeface="Calibri" panose="020F0502020204030204" charset="0"/>
                <a:ea typeface="宋体" panose="02010600030101010101" pitchFamily="2" charset="-122"/>
              </a:defRPr>
            </a:lvl4pPr>
            <a:lvl5pPr marL="2057400" indent="-228600">
              <a:defRPr>
                <a:solidFill>
                  <a:sysClr val="windowText" lastClr="000000"/>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9pPr>
          </a:lstStyle>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mn-ea"/>
              </a:rPr>
              <a:t>专业化运作</a:t>
            </a:r>
          </a:p>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mn-ea"/>
              </a:rPr>
              <a:t>内容更权威、剖析力度强</a:t>
            </a:r>
          </a:p>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Arial" panose="020B0604020202020204" pitchFamily="34" charset="0"/>
              </a:rPr>
              <a:t>有时间和空间的局限性</a:t>
            </a:r>
          </a:p>
        </p:txBody>
      </p:sp>
      <p:sp>
        <p:nvSpPr>
          <p:cNvPr id="58" name="矩形 57"/>
          <p:cNvSpPr/>
          <p:nvPr>
            <p:custDataLst>
              <p:tags r:id="rId5"/>
            </p:custDataLst>
          </p:nvPr>
        </p:nvSpPr>
        <p:spPr>
          <a:xfrm>
            <a:off x="375285" y="908685"/>
            <a:ext cx="4320000" cy="810895"/>
          </a:xfrm>
          <a:prstGeom prst="rect">
            <a:avLst/>
          </a:prstGeom>
          <a:solidFill>
            <a:srgbClr val="9BBB59"/>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r>
              <a:rPr lang="zh-CN" altLang="en-US" sz="2000" b="1">
                <a:solidFill>
                  <a:prstClr val="white"/>
                </a:solidFill>
              </a:rPr>
              <a:t>电视媒体</a:t>
            </a:r>
          </a:p>
        </p:txBody>
      </p:sp>
      <p:sp>
        <p:nvSpPr>
          <p:cNvPr id="66" name="MH_Text_1"/>
          <p:cNvSpPr txBox="1">
            <a:spLocks noChangeArrowheads="1"/>
          </p:cNvSpPr>
          <p:nvPr>
            <p:custDataLst>
              <p:tags r:id="rId6"/>
            </p:custDataLst>
          </p:nvPr>
        </p:nvSpPr>
        <p:spPr bwMode="auto">
          <a:xfrm>
            <a:off x="7659370" y="4772025"/>
            <a:ext cx="4320540" cy="1523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ysClr val="windowText" lastClr="000000"/>
                </a:solidFill>
                <a:latin typeface="Calibri" panose="020F0502020204030204" charset="0"/>
                <a:ea typeface="宋体" panose="02010600030101010101" pitchFamily="2" charset="-122"/>
              </a:defRPr>
            </a:lvl1pPr>
            <a:lvl2pPr marL="742950" indent="-285750">
              <a:defRPr>
                <a:solidFill>
                  <a:sysClr val="windowText" lastClr="000000"/>
                </a:solidFill>
                <a:latin typeface="Calibri" panose="020F0502020204030204" charset="0"/>
                <a:ea typeface="宋体" panose="02010600030101010101" pitchFamily="2" charset="-122"/>
              </a:defRPr>
            </a:lvl2pPr>
            <a:lvl3pPr marL="1143000" indent="-228600">
              <a:defRPr>
                <a:solidFill>
                  <a:sysClr val="windowText" lastClr="000000"/>
                </a:solidFill>
                <a:latin typeface="Calibri" panose="020F0502020204030204" charset="0"/>
                <a:ea typeface="宋体" panose="02010600030101010101" pitchFamily="2" charset="-122"/>
              </a:defRPr>
            </a:lvl3pPr>
            <a:lvl4pPr marL="1600200" indent="-228600">
              <a:defRPr>
                <a:solidFill>
                  <a:sysClr val="windowText" lastClr="000000"/>
                </a:solidFill>
                <a:latin typeface="Calibri" panose="020F0502020204030204" charset="0"/>
                <a:ea typeface="宋体" panose="02010600030101010101" pitchFamily="2" charset="-122"/>
              </a:defRPr>
            </a:lvl4pPr>
            <a:lvl5pPr marL="2057400" indent="-228600">
              <a:defRPr>
                <a:solidFill>
                  <a:sysClr val="windowText" lastClr="000000"/>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9pPr>
          </a:lstStyle>
          <a:p>
            <a:pPr marL="285750" indent="-285750" latinLnBrk="1">
              <a:lnSpc>
                <a:spcPct val="150000"/>
              </a:lnSpc>
              <a:buFont typeface="Arial" panose="020B0604020202020204" pitchFamily="34" charset="0"/>
              <a:buChar char="•"/>
              <a:defRPr/>
            </a:pPr>
            <a:r>
              <a:rPr lang="zh-CN" altLang="en-US" sz="1600" dirty="0">
                <a:latin typeface="+mn-ea"/>
                <a:ea typeface="+mn-ea"/>
                <a:cs typeface="+mn-ea"/>
                <a:sym typeface="+mn-ea"/>
              </a:rPr>
              <a:t>帮助</a:t>
            </a:r>
            <a:r>
              <a:rPr lang="en-US" altLang="zh-CN" sz="1600" dirty="0">
                <a:latin typeface="+mn-ea"/>
                <a:ea typeface="+mn-ea"/>
                <a:cs typeface="+mn-ea"/>
                <a:sym typeface="+mn-ea"/>
              </a:rPr>
              <a:t>app</a:t>
            </a:r>
            <a:r>
              <a:rPr lang="zh-CN" altLang="en-US" sz="1600" dirty="0">
                <a:solidFill>
                  <a:srgbClr val="FF0000"/>
                </a:solidFill>
                <a:latin typeface="+mn-ea"/>
                <a:ea typeface="+mn-ea"/>
                <a:cs typeface="+mn-ea"/>
                <a:sym typeface="+mn-ea"/>
              </a:rPr>
              <a:t>更灵活</a:t>
            </a:r>
            <a:r>
              <a:rPr lang="zh-CN" altLang="en-US" sz="1600" dirty="0">
                <a:latin typeface="+mn-ea"/>
                <a:ea typeface="+mn-ea"/>
                <a:cs typeface="+mn-ea"/>
                <a:sym typeface="+mn-ea"/>
              </a:rPr>
              <a:t>地搭建直播、互动、活动场景，提供从内容到流程的</a:t>
            </a:r>
            <a:r>
              <a:rPr lang="zh-CN" altLang="en-US" sz="1600" dirty="0">
                <a:solidFill>
                  <a:srgbClr val="FF0000"/>
                </a:solidFill>
                <a:latin typeface="+mn-ea"/>
                <a:ea typeface="+mn-ea"/>
                <a:cs typeface="+mn-ea"/>
                <a:sym typeface="+mn-ea"/>
              </a:rPr>
              <a:t>全方位</a:t>
            </a:r>
            <a:r>
              <a:rPr lang="zh-CN" altLang="en-US" sz="1600" dirty="0">
                <a:latin typeface="+mn-ea"/>
                <a:ea typeface="+mn-ea"/>
                <a:cs typeface="+mn-ea"/>
                <a:sym typeface="+mn-ea"/>
              </a:rPr>
              <a:t>的管理</a:t>
            </a:r>
          </a:p>
          <a:p>
            <a:pPr marL="285750" indent="-285750" latinLnBrk="1">
              <a:lnSpc>
                <a:spcPct val="150000"/>
              </a:lnSpc>
              <a:buFont typeface="Arial" panose="020B0604020202020204" pitchFamily="34" charset="0"/>
              <a:buChar char="•"/>
              <a:defRPr/>
            </a:pPr>
            <a:r>
              <a:rPr lang="zh-CN" altLang="en-US" sz="1600" dirty="0">
                <a:latin typeface="+mn-ea"/>
                <a:ea typeface="+mn-ea"/>
                <a:cs typeface="+mn-ea"/>
                <a:sym typeface="+mn-ea"/>
              </a:rPr>
              <a:t>结合完备的用户激励机制和数据统计支持，提供</a:t>
            </a:r>
            <a:r>
              <a:rPr lang="zh-CN" altLang="en-US" sz="1600" dirty="0">
                <a:solidFill>
                  <a:srgbClr val="FF0000"/>
                </a:solidFill>
                <a:latin typeface="+mn-ea"/>
                <a:ea typeface="+mn-ea"/>
                <a:cs typeface="+mn-ea"/>
                <a:sym typeface="+mn-ea"/>
              </a:rPr>
              <a:t>多样化自动化</a:t>
            </a:r>
            <a:r>
              <a:rPr lang="zh-CN" altLang="en-US" sz="1600" dirty="0">
                <a:latin typeface="+mn-ea"/>
                <a:ea typeface="+mn-ea"/>
                <a:cs typeface="+mn-ea"/>
                <a:sym typeface="+mn-ea"/>
              </a:rPr>
              <a:t>的运营手段，提升用户活跃，降低运营成本。</a:t>
            </a:r>
          </a:p>
          <a:p>
            <a:pPr latinLnBrk="1">
              <a:lnSpc>
                <a:spcPct val="150000"/>
              </a:lnSpc>
              <a:defRPr/>
            </a:pPr>
            <a:endParaRPr lang="en-US" altLang="zh-CN" sz="1600" dirty="0">
              <a:solidFill>
                <a:prstClr val="black">
                  <a:lumMod val="95000"/>
                  <a:lumOff val="5000"/>
                </a:prstClr>
              </a:solidFill>
              <a:latin typeface="+mn-ea"/>
              <a:ea typeface="+mn-ea"/>
              <a:cs typeface="+mn-ea"/>
              <a:sym typeface="Arial" panose="020B0604020202020204" pitchFamily="34" charset="0"/>
            </a:endParaRPr>
          </a:p>
        </p:txBody>
      </p:sp>
      <p:sp>
        <p:nvSpPr>
          <p:cNvPr id="69" name="矩形 68"/>
          <p:cNvSpPr/>
          <p:nvPr>
            <p:custDataLst>
              <p:tags r:id="rId7"/>
            </p:custDataLst>
          </p:nvPr>
        </p:nvSpPr>
        <p:spPr>
          <a:xfrm>
            <a:off x="5002819" y="908420"/>
            <a:ext cx="4320000" cy="810000"/>
          </a:xfrm>
          <a:prstGeom prst="rect">
            <a:avLst/>
          </a:prstGeom>
          <a:solidFill>
            <a:srgbClr val="8064A2"/>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r>
              <a:rPr lang="zh-CN" altLang="en-US" sz="2000" b="1">
                <a:solidFill>
                  <a:prstClr val="white"/>
                </a:solidFill>
              </a:rPr>
              <a:t>互联网新媒体</a:t>
            </a:r>
          </a:p>
        </p:txBody>
      </p:sp>
      <p:sp>
        <p:nvSpPr>
          <p:cNvPr id="70" name="矩形 69"/>
          <p:cNvSpPr/>
          <p:nvPr>
            <p:custDataLst>
              <p:tags r:id="rId8"/>
            </p:custDataLst>
          </p:nvPr>
        </p:nvSpPr>
        <p:spPr>
          <a:xfrm>
            <a:off x="5002530" y="1718310"/>
            <a:ext cx="4320000" cy="1748155"/>
          </a:xfrm>
          <a:prstGeom prst="rect">
            <a:avLst/>
          </a:prstGeom>
          <a:solidFill>
            <a:sysClr val="window" lastClr="FFFFFF">
              <a:alpha val="87000"/>
            </a:sysClr>
          </a:solidFill>
          <a:ln>
            <a:solidFill>
              <a:srgbClr val="8064A2"/>
            </a:solid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solidFill>
                <a:prstClr val="white"/>
              </a:solidFill>
            </a:endParaRPr>
          </a:p>
        </p:txBody>
      </p:sp>
      <p:sp>
        <p:nvSpPr>
          <p:cNvPr id="77" name="MH_Text_1"/>
          <p:cNvSpPr txBox="1">
            <a:spLocks noChangeArrowheads="1"/>
          </p:cNvSpPr>
          <p:nvPr>
            <p:custDataLst>
              <p:tags r:id="rId9"/>
            </p:custDataLst>
          </p:nvPr>
        </p:nvSpPr>
        <p:spPr bwMode="auto">
          <a:xfrm>
            <a:off x="5046345" y="1757680"/>
            <a:ext cx="4276725"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ysClr val="windowText" lastClr="000000"/>
                </a:solidFill>
                <a:latin typeface="Calibri" panose="020F0502020204030204" charset="0"/>
                <a:ea typeface="宋体" panose="02010600030101010101" pitchFamily="2" charset="-122"/>
              </a:defRPr>
            </a:lvl1pPr>
            <a:lvl2pPr marL="742950" indent="-285750">
              <a:defRPr>
                <a:solidFill>
                  <a:sysClr val="windowText" lastClr="000000"/>
                </a:solidFill>
                <a:latin typeface="Calibri" panose="020F0502020204030204" charset="0"/>
                <a:ea typeface="宋体" panose="02010600030101010101" pitchFamily="2" charset="-122"/>
              </a:defRPr>
            </a:lvl2pPr>
            <a:lvl3pPr marL="1143000" indent="-228600">
              <a:defRPr>
                <a:solidFill>
                  <a:sysClr val="windowText" lastClr="000000"/>
                </a:solidFill>
                <a:latin typeface="Calibri" panose="020F0502020204030204" charset="0"/>
                <a:ea typeface="宋体" panose="02010600030101010101" pitchFamily="2" charset="-122"/>
              </a:defRPr>
            </a:lvl3pPr>
            <a:lvl4pPr marL="1600200" indent="-228600">
              <a:defRPr>
                <a:solidFill>
                  <a:sysClr val="windowText" lastClr="000000"/>
                </a:solidFill>
                <a:latin typeface="Calibri" panose="020F0502020204030204" charset="0"/>
                <a:ea typeface="宋体" panose="02010600030101010101" pitchFamily="2" charset="-122"/>
              </a:defRPr>
            </a:lvl4pPr>
            <a:lvl5pPr marL="2057400" indent="-228600">
              <a:defRPr>
                <a:solidFill>
                  <a:sysClr val="windowText" lastClr="000000"/>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9pPr>
          </a:lstStyle>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mn-ea"/>
              </a:rPr>
              <a:t>定位碎片化场景，用户使用便捷高频</a:t>
            </a:r>
          </a:p>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mn-ea"/>
              </a:rPr>
              <a:t>拥有更好的互动机制和高效的数字化运营手段</a:t>
            </a:r>
          </a:p>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mn-ea"/>
              </a:rPr>
              <a:t>内容良莠不齐，用户信任度低</a:t>
            </a:r>
          </a:p>
          <a:p>
            <a:pPr marL="285750" indent="-285750" latinLnBrk="1">
              <a:lnSpc>
                <a:spcPct val="150000"/>
              </a:lnSpc>
              <a:defRPr/>
            </a:pPr>
            <a:endParaRPr lang="zh-CN" altLang="en-US" sz="1600" dirty="0">
              <a:solidFill>
                <a:prstClr val="black">
                  <a:lumMod val="95000"/>
                  <a:lumOff val="5000"/>
                </a:prstClr>
              </a:solidFill>
              <a:latin typeface="+mn-ea"/>
              <a:ea typeface="+mn-ea"/>
              <a:cs typeface="Arial" panose="020B0604020202020204" pitchFamily="34" charset="0"/>
              <a:sym typeface="Arial" panose="020B0604020202020204" pitchFamily="34" charset="0"/>
            </a:endParaRPr>
          </a:p>
        </p:txBody>
      </p:sp>
      <p:sp>
        <p:nvSpPr>
          <p:cNvPr id="80" name="矩形 79"/>
          <p:cNvSpPr/>
          <p:nvPr>
            <p:custDataLst>
              <p:tags r:id="rId10"/>
            </p:custDataLst>
          </p:nvPr>
        </p:nvSpPr>
        <p:spPr>
          <a:xfrm>
            <a:off x="2530134" y="4041510"/>
            <a:ext cx="4320000" cy="810000"/>
          </a:xfrm>
          <a:prstGeom prst="rect">
            <a:avLst/>
          </a:prstGeom>
          <a:solidFill>
            <a:srgbClr val="4BACC6"/>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r>
              <a:rPr lang="zh-CN" altLang="en-US" b="1">
                <a:solidFill>
                  <a:prstClr val="white"/>
                </a:solidFill>
                <a:latin typeface="+mj-ea"/>
                <a:ea typeface="+mj-ea"/>
                <a:cs typeface="+mj-ea"/>
              </a:rPr>
              <a:t>央视新闻</a:t>
            </a:r>
            <a:r>
              <a:rPr lang="en-US" altLang="zh-CN" b="1">
                <a:solidFill>
                  <a:prstClr val="white"/>
                </a:solidFill>
                <a:latin typeface="+mj-ea"/>
                <a:ea typeface="+mj-ea"/>
                <a:cs typeface="+mj-ea"/>
              </a:rPr>
              <a:t>app</a:t>
            </a:r>
          </a:p>
        </p:txBody>
      </p:sp>
      <p:sp>
        <p:nvSpPr>
          <p:cNvPr id="81" name="矩形 80"/>
          <p:cNvSpPr/>
          <p:nvPr>
            <p:custDataLst>
              <p:tags r:id="rId11"/>
            </p:custDataLst>
          </p:nvPr>
        </p:nvSpPr>
        <p:spPr>
          <a:xfrm>
            <a:off x="2529840" y="4839970"/>
            <a:ext cx="4320000" cy="1800000"/>
          </a:xfrm>
          <a:prstGeom prst="rect">
            <a:avLst/>
          </a:prstGeom>
          <a:solidFill>
            <a:sysClr val="window" lastClr="FFFFFF">
              <a:alpha val="87000"/>
            </a:sysClr>
          </a:solidFill>
          <a:ln>
            <a:solidFill>
              <a:srgbClr val="4BACC6"/>
            </a:solid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solidFill>
                <a:prstClr val="white"/>
              </a:solidFill>
            </a:endParaRPr>
          </a:p>
        </p:txBody>
      </p:sp>
      <p:sp>
        <p:nvSpPr>
          <p:cNvPr id="87" name="MH_Text_1"/>
          <p:cNvSpPr txBox="1">
            <a:spLocks noChangeArrowheads="1"/>
          </p:cNvSpPr>
          <p:nvPr>
            <p:custDataLst>
              <p:tags r:id="rId12"/>
            </p:custDataLst>
          </p:nvPr>
        </p:nvSpPr>
        <p:spPr bwMode="auto">
          <a:xfrm>
            <a:off x="2529840" y="4804410"/>
            <a:ext cx="4319905" cy="168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ysClr val="windowText" lastClr="000000"/>
                </a:solidFill>
                <a:latin typeface="Calibri" panose="020F0502020204030204" charset="0"/>
                <a:ea typeface="宋体" panose="02010600030101010101" pitchFamily="2" charset="-122"/>
              </a:defRPr>
            </a:lvl1pPr>
            <a:lvl2pPr marL="742950" indent="-285750">
              <a:defRPr>
                <a:solidFill>
                  <a:sysClr val="windowText" lastClr="000000"/>
                </a:solidFill>
                <a:latin typeface="Calibri" panose="020F0502020204030204" charset="0"/>
                <a:ea typeface="宋体" panose="02010600030101010101" pitchFamily="2" charset="-122"/>
              </a:defRPr>
            </a:lvl2pPr>
            <a:lvl3pPr marL="1143000" indent="-228600">
              <a:defRPr>
                <a:solidFill>
                  <a:sysClr val="windowText" lastClr="000000"/>
                </a:solidFill>
                <a:latin typeface="Calibri" panose="020F0502020204030204" charset="0"/>
                <a:ea typeface="宋体" panose="02010600030101010101" pitchFamily="2" charset="-122"/>
              </a:defRPr>
            </a:lvl3pPr>
            <a:lvl4pPr marL="1600200" indent="-228600">
              <a:defRPr>
                <a:solidFill>
                  <a:sysClr val="windowText" lastClr="000000"/>
                </a:solidFill>
                <a:latin typeface="Calibri" panose="020F0502020204030204" charset="0"/>
                <a:ea typeface="宋体" panose="02010600030101010101" pitchFamily="2" charset="-122"/>
              </a:defRPr>
            </a:lvl4pPr>
            <a:lvl5pPr marL="2057400" indent="-228600">
              <a:defRPr>
                <a:solidFill>
                  <a:sysClr val="windowText" lastClr="000000"/>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9pPr>
          </a:lstStyle>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mn-ea"/>
              </a:rPr>
              <a:t>继承央视作为电视媒体龙头品牌的内容权威、运作专业的优势</a:t>
            </a:r>
          </a:p>
          <a:p>
            <a:pPr marL="285750" indent="-285750" latinLnBrk="1">
              <a:lnSpc>
                <a:spcPct val="150000"/>
              </a:lnSpc>
              <a:buFont typeface="Arial" panose="020B0604020202020204" pitchFamily="34" charset="0"/>
              <a:buChar char="•"/>
              <a:defRPr/>
            </a:pPr>
            <a:r>
              <a:rPr lang="zh-CN" altLang="en-US" sz="1600" dirty="0">
                <a:solidFill>
                  <a:prstClr val="black">
                    <a:lumMod val="95000"/>
                    <a:lumOff val="5000"/>
                  </a:prstClr>
                </a:solidFill>
                <a:latin typeface="+mn-ea"/>
                <a:ea typeface="+mn-ea"/>
                <a:cs typeface="Arial" panose="020B0604020202020204" pitchFamily="34" charset="0"/>
                <a:sym typeface="+mn-ea"/>
              </a:rPr>
              <a:t>结合阿里对产品及运营的深入理解，打造互联网端的权威新闻平台</a:t>
            </a:r>
          </a:p>
        </p:txBody>
      </p:sp>
      <p:sp>
        <p:nvSpPr>
          <p:cNvPr id="95" name="下箭头 94"/>
          <p:cNvSpPr/>
          <p:nvPr/>
        </p:nvSpPr>
        <p:spPr>
          <a:xfrm>
            <a:off x="3309620" y="3519170"/>
            <a:ext cx="204470" cy="485775"/>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96" name="下箭头 95"/>
          <p:cNvSpPr/>
          <p:nvPr/>
        </p:nvSpPr>
        <p:spPr>
          <a:xfrm>
            <a:off x="5800725" y="3519170"/>
            <a:ext cx="204470" cy="485775"/>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98" name="右箭头 97"/>
          <p:cNvSpPr/>
          <p:nvPr/>
        </p:nvSpPr>
        <p:spPr>
          <a:xfrm>
            <a:off x="6887845" y="5269865"/>
            <a:ext cx="720000" cy="1663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3</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产品架构规划</a:t>
            </a:r>
            <a:endParaRPr lang="en-US" altLang="zh-CN" dirty="0">
              <a:latin typeface="+mn-ea"/>
            </a:endParaRPr>
          </a:p>
        </p:txBody>
      </p:sp>
      <p:pic>
        <p:nvPicPr>
          <p:cNvPr id="2" name="图片 1"/>
          <p:cNvPicPr>
            <a:picLocks noChangeAspect="1"/>
          </p:cNvPicPr>
          <p:nvPr/>
        </p:nvPicPr>
        <p:blipFill>
          <a:blip r:embed="rId2"/>
          <a:stretch>
            <a:fillRect/>
          </a:stretch>
        </p:blipFill>
        <p:spPr>
          <a:xfrm>
            <a:off x="72390" y="892810"/>
            <a:ext cx="12047638" cy="594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930405" y="6759762"/>
            <a:ext cx="1139636" cy="365125"/>
          </a:xfrm>
        </p:spPr>
        <p:txBody>
          <a:bodyPr/>
          <a:lstStyle/>
          <a:p>
            <a:fld id="{4B1B0860-3CE7-4EC1-80B2-E4FAEF86BBEB}" type="slidenum">
              <a:rPr lang="zh-CN" altLang="en-US" smtClean="0"/>
              <a:t>4</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直播发布系统</a:t>
            </a:r>
            <a:endParaRPr lang="en-US" altLang="zh-CN" dirty="0">
              <a:latin typeface="+mn-ea"/>
            </a:endParaRPr>
          </a:p>
        </p:txBody>
      </p:sp>
      <p:sp>
        <p:nvSpPr>
          <p:cNvPr id="16" name="文本框 15">
            <a:extLst>
              <a:ext uri="{FF2B5EF4-FFF2-40B4-BE49-F238E27FC236}">
                <a16:creationId xmlns:a16="http://schemas.microsoft.com/office/drawing/2014/main" xmlns="" id="{F17F467C-A2DB-344B-DAED-79AB1706EDA3}"/>
              </a:ext>
            </a:extLst>
          </p:cNvPr>
          <p:cNvSpPr txBox="1"/>
          <p:nvPr/>
        </p:nvSpPr>
        <p:spPr>
          <a:xfrm>
            <a:off x="1497106" y="1102036"/>
            <a:ext cx="10384894"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31963">
              <a:lnSpc>
                <a:spcPct val="100000"/>
              </a:lnSpc>
              <a:spcBef>
                <a:spcPts val="0"/>
              </a:spcBef>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Helvetica"/>
                <a:sym typeface="Helvetica"/>
              </a:rPr>
              <a:t>直播发布系统是一款针对央视新闻客户端直播相关的功能进行后台管理的系统</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Helvetica"/>
              <a:sym typeface="Helvetica"/>
            </a:endParaRPr>
          </a:p>
        </p:txBody>
      </p:sp>
      <p:sp>
        <p:nvSpPr>
          <p:cNvPr id="19" name="圆角矩形">
            <a:extLst>
              <a:ext uri="{FF2B5EF4-FFF2-40B4-BE49-F238E27FC236}">
                <a16:creationId xmlns:a16="http://schemas.microsoft.com/office/drawing/2014/main" xmlns="" id="{1029A73B-A944-79D8-5C48-B79F337A1342}"/>
              </a:ext>
            </a:extLst>
          </p:cNvPr>
          <p:cNvSpPr/>
          <p:nvPr/>
        </p:nvSpPr>
        <p:spPr>
          <a:xfrm>
            <a:off x="363788" y="2751969"/>
            <a:ext cx="2938894" cy="535917"/>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i="0" u="none" strike="noStrike" kern="0" cap="none" spc="0" normalizeH="0" baseline="0" noProof="0" dirty="0">
                <a:ln>
                  <a:noFill/>
                </a:ln>
                <a:solidFill>
                  <a:srgbClr val="000000"/>
                </a:solidFill>
                <a:effectLst/>
                <a:uLnTx/>
                <a:uFillTx/>
                <a:latin typeface="Helvetica Neue Medium"/>
                <a:sym typeface="Helvetica Neue Medium"/>
              </a:rPr>
              <a:t>直播管理</a:t>
            </a:r>
            <a:endParaRPr kumimoji="0" sz="200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20" name="圆角矩形">
            <a:extLst>
              <a:ext uri="{FF2B5EF4-FFF2-40B4-BE49-F238E27FC236}">
                <a16:creationId xmlns:a16="http://schemas.microsoft.com/office/drawing/2014/main" xmlns="" id="{48D61DFB-0B43-FDC5-98C2-CC03EEC42FB4}"/>
              </a:ext>
            </a:extLst>
          </p:cNvPr>
          <p:cNvSpPr/>
          <p:nvPr/>
        </p:nvSpPr>
        <p:spPr>
          <a:xfrm>
            <a:off x="389465" y="3468478"/>
            <a:ext cx="2922949" cy="535917"/>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i="0" u="none" strike="noStrike" kern="0" cap="none" spc="0" normalizeH="0" baseline="0" noProof="0" dirty="0">
                <a:ln>
                  <a:noFill/>
                </a:ln>
                <a:solidFill>
                  <a:srgbClr val="000000"/>
                </a:solidFill>
                <a:effectLst/>
                <a:uLnTx/>
                <a:uFillTx/>
                <a:latin typeface="Helvetica Neue Medium"/>
                <a:sym typeface="Helvetica Neue Medium"/>
              </a:rPr>
              <a:t>直播评论管理</a:t>
            </a:r>
            <a:endParaRPr kumimoji="0" sz="200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21" name="圆角矩形">
            <a:extLst>
              <a:ext uri="{FF2B5EF4-FFF2-40B4-BE49-F238E27FC236}">
                <a16:creationId xmlns:a16="http://schemas.microsoft.com/office/drawing/2014/main" xmlns="" id="{3A81BF53-E98A-190F-17A5-33799696C8B0}"/>
              </a:ext>
            </a:extLst>
          </p:cNvPr>
          <p:cNvSpPr/>
          <p:nvPr/>
        </p:nvSpPr>
        <p:spPr>
          <a:xfrm>
            <a:off x="389465" y="4901495"/>
            <a:ext cx="2906618" cy="535917"/>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i="0" u="none" strike="noStrike" kern="0" cap="none" spc="0" normalizeH="0" baseline="0" noProof="0" dirty="0">
                <a:ln>
                  <a:noFill/>
                </a:ln>
                <a:solidFill>
                  <a:srgbClr val="000000"/>
                </a:solidFill>
                <a:effectLst/>
                <a:uLnTx/>
                <a:uFillTx/>
                <a:latin typeface="Helvetica Neue Medium"/>
                <a:sym typeface="Helvetica Neue Medium"/>
              </a:rPr>
              <a:t>直播互动管理</a:t>
            </a:r>
            <a:endParaRPr kumimoji="0" sz="200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22" name="圆角矩形">
            <a:extLst>
              <a:ext uri="{FF2B5EF4-FFF2-40B4-BE49-F238E27FC236}">
                <a16:creationId xmlns:a16="http://schemas.microsoft.com/office/drawing/2014/main" xmlns="" id="{B8FDB4EE-E67E-FDBD-6794-6AEAC3B2B10B}"/>
              </a:ext>
            </a:extLst>
          </p:cNvPr>
          <p:cNvSpPr/>
          <p:nvPr/>
        </p:nvSpPr>
        <p:spPr>
          <a:xfrm>
            <a:off x="373134" y="4184987"/>
            <a:ext cx="2922949" cy="535917"/>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i="0" u="none" strike="noStrike" kern="0" cap="none" spc="0" normalizeH="0" baseline="0" noProof="0" dirty="0">
                <a:ln>
                  <a:noFill/>
                </a:ln>
                <a:solidFill>
                  <a:srgbClr val="000000"/>
                </a:solidFill>
                <a:effectLst/>
                <a:uLnTx/>
                <a:uFillTx/>
                <a:latin typeface="Helvetica Neue Medium"/>
                <a:sym typeface="Helvetica Neue Medium"/>
              </a:rPr>
              <a:t>广播直播</a:t>
            </a:r>
            <a:endParaRPr kumimoji="0" sz="200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23" name="一级标题">
            <a:extLst>
              <a:ext uri="{FF2B5EF4-FFF2-40B4-BE49-F238E27FC236}">
                <a16:creationId xmlns:a16="http://schemas.microsoft.com/office/drawing/2014/main" xmlns="" id="{B05A5DBF-7ABD-BC90-64CF-9984D64D0EEA}"/>
              </a:ext>
            </a:extLst>
          </p:cNvPr>
          <p:cNvSpPr txBox="1"/>
          <p:nvPr/>
        </p:nvSpPr>
        <p:spPr>
          <a:xfrm>
            <a:off x="9889443" y="1810907"/>
            <a:ext cx="1879423" cy="53591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客户端首页</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2" name="图片 1">
            <a:extLst>
              <a:ext uri="{FF2B5EF4-FFF2-40B4-BE49-F238E27FC236}">
                <a16:creationId xmlns:a16="http://schemas.microsoft.com/office/drawing/2014/main" xmlns="" id="{1C3F1A6B-EFC1-12A1-4F83-059C992AD9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6310" y="2366486"/>
            <a:ext cx="2105690" cy="4320000"/>
          </a:xfrm>
          <a:prstGeom prst="rect">
            <a:avLst/>
          </a:prstGeom>
        </p:spPr>
      </p:pic>
      <p:pic>
        <p:nvPicPr>
          <p:cNvPr id="6" name="图片 5">
            <a:extLst>
              <a:ext uri="{FF2B5EF4-FFF2-40B4-BE49-F238E27FC236}">
                <a16:creationId xmlns:a16="http://schemas.microsoft.com/office/drawing/2014/main" xmlns="" id="{E19D9777-1D2E-8A24-0AD4-A5343E3AD5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7677" y="2751969"/>
            <a:ext cx="5211059" cy="2931221"/>
          </a:xfrm>
          <a:prstGeom prst="rect">
            <a:avLst/>
          </a:prstGeom>
        </p:spPr>
      </p:pic>
      <p:sp>
        <p:nvSpPr>
          <p:cNvPr id="8" name="一级标题">
            <a:extLst>
              <a:ext uri="{FF2B5EF4-FFF2-40B4-BE49-F238E27FC236}">
                <a16:creationId xmlns:a16="http://schemas.microsoft.com/office/drawing/2014/main" xmlns="" id="{42DCD5F0-EF70-86A2-E008-B05A29DFE3F6}"/>
              </a:ext>
            </a:extLst>
          </p:cNvPr>
          <p:cNvSpPr txBox="1"/>
          <p:nvPr/>
        </p:nvSpPr>
        <p:spPr>
          <a:xfrm>
            <a:off x="973286" y="1810907"/>
            <a:ext cx="1719898"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功能模块</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9" name="一级标题">
            <a:extLst>
              <a:ext uri="{FF2B5EF4-FFF2-40B4-BE49-F238E27FC236}">
                <a16:creationId xmlns:a16="http://schemas.microsoft.com/office/drawing/2014/main" xmlns="" id="{D74F04AB-F000-C244-3A97-2756FB0E4B07}"/>
              </a:ext>
            </a:extLst>
          </p:cNvPr>
          <p:cNvSpPr txBox="1"/>
          <p:nvPr/>
        </p:nvSpPr>
        <p:spPr>
          <a:xfrm>
            <a:off x="5809253" y="1810907"/>
            <a:ext cx="1568699"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系统首页</a:t>
            </a:r>
            <a:endParaRPr kumimoji="1" sz="2400" b="1" spc="300" dirty="0">
              <a:solidFill>
                <a:schemeClr val="tx1">
                  <a:lumMod val="85000"/>
                  <a:lumOff val="15000"/>
                </a:schemeClr>
              </a:solidFill>
              <a:latin typeface="微软雅黑"/>
              <a:ea typeface="微软雅黑"/>
              <a:cs typeface="Helvetica"/>
              <a:sym typeface="Helvetic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5</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直播发布系统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26832" y="882633"/>
            <a:ext cx="1639215"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直播管理</a:t>
            </a:r>
            <a:r>
              <a:rPr kumimoji="1" lang="en-US" altLang="zh-CN" sz="2400" b="1" spc="300" dirty="0">
                <a:solidFill>
                  <a:schemeClr val="tx1">
                    <a:lumMod val="85000"/>
                    <a:lumOff val="15000"/>
                  </a:schemeClr>
                </a:solidFill>
                <a:latin typeface="微软雅黑"/>
                <a:ea typeface="微软雅黑"/>
                <a:cs typeface="Helvetica"/>
                <a:sym typeface="Helvetica"/>
              </a:rPr>
              <a:t>:</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6" name="图片 5">
            <a:extLst>
              <a:ext uri="{FF2B5EF4-FFF2-40B4-BE49-F238E27FC236}">
                <a16:creationId xmlns:a16="http://schemas.microsoft.com/office/drawing/2014/main" xmlns="" id="{10FB4ADB-2639-4FA5-FCED-CE6F81B4FC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7130" y="1538684"/>
            <a:ext cx="8678400" cy="4881600"/>
          </a:xfrm>
          <a:prstGeom prst="rect">
            <a:avLst/>
          </a:prstGeom>
        </p:spPr>
      </p:pic>
      <p:pic>
        <p:nvPicPr>
          <p:cNvPr id="2" name="图片 1">
            <a:extLst>
              <a:ext uri="{FF2B5EF4-FFF2-40B4-BE49-F238E27FC236}">
                <a16:creationId xmlns:a16="http://schemas.microsoft.com/office/drawing/2014/main" xmlns="" id="{5206EDFD-ED35-3875-18FE-6D530D0E8C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3035" y="1538684"/>
            <a:ext cx="2418069" cy="4881600"/>
          </a:xfrm>
          <a:prstGeom prst="rect">
            <a:avLst/>
          </a:prstGeom>
        </p:spPr>
      </p:pic>
      <p:sp>
        <p:nvSpPr>
          <p:cNvPr id="3" name="文本框 2">
            <a:extLst>
              <a:ext uri="{FF2B5EF4-FFF2-40B4-BE49-F238E27FC236}">
                <a16:creationId xmlns:a16="http://schemas.microsoft.com/office/drawing/2014/main" xmlns="" id="{5FE982A8-8A2D-1398-64F8-14C677674F21}"/>
              </a:ext>
            </a:extLst>
          </p:cNvPr>
          <p:cNvSpPr txBox="1"/>
          <p:nvPr/>
        </p:nvSpPr>
        <p:spPr>
          <a:xfrm>
            <a:off x="1707823" y="104921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可视化的直播间搭建后台，实时对直播间进行装饰和维护管理</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6955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6</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直播发布系统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26833" y="882633"/>
            <a:ext cx="2365355"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直播评论管理：</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6" name="图片 5">
            <a:extLst>
              <a:ext uri="{FF2B5EF4-FFF2-40B4-BE49-F238E27FC236}">
                <a16:creationId xmlns:a16="http://schemas.microsoft.com/office/drawing/2014/main" xmlns="" id="{1ED3F411-3A50-08D3-5781-18F8169246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2977" y="1666276"/>
            <a:ext cx="2255939" cy="4881600"/>
          </a:xfrm>
          <a:prstGeom prst="rect">
            <a:avLst/>
          </a:prstGeom>
        </p:spPr>
      </p:pic>
      <p:pic>
        <p:nvPicPr>
          <p:cNvPr id="7" name="图片 6">
            <a:extLst>
              <a:ext uri="{FF2B5EF4-FFF2-40B4-BE49-F238E27FC236}">
                <a16:creationId xmlns:a16="http://schemas.microsoft.com/office/drawing/2014/main" xmlns="" id="{345D6ED0-DD18-1DD2-D43A-56B063C56F94}"/>
              </a:ext>
            </a:extLst>
          </p:cNvPr>
          <p:cNvPicPr>
            <a:picLocks noChangeAspect="1"/>
          </p:cNvPicPr>
          <p:nvPr/>
        </p:nvPicPr>
        <p:blipFill>
          <a:blip r:embed="rId3"/>
          <a:stretch>
            <a:fillRect/>
          </a:stretch>
        </p:blipFill>
        <p:spPr>
          <a:xfrm>
            <a:off x="575982" y="1657312"/>
            <a:ext cx="8121162" cy="4881600"/>
          </a:xfrm>
          <a:prstGeom prst="rect">
            <a:avLst/>
          </a:prstGeom>
        </p:spPr>
      </p:pic>
      <p:sp>
        <p:nvSpPr>
          <p:cNvPr id="2" name="文本框 1">
            <a:extLst>
              <a:ext uri="{FF2B5EF4-FFF2-40B4-BE49-F238E27FC236}">
                <a16:creationId xmlns:a16="http://schemas.microsoft.com/office/drawing/2014/main" xmlns="" id="{81366BF1-7A6F-8D76-E5C0-7440696FDCED}"/>
              </a:ext>
            </a:extLst>
          </p:cNvPr>
          <p:cNvSpPr txBox="1"/>
          <p:nvPr/>
        </p:nvSpPr>
        <p:spPr>
          <a:xfrm>
            <a:off x="2362247" y="104921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rPr>
              <a:t>先发后审、先审后发，机审搭配人工审核，客户端评论条数算法。</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81455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7</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直播发布系统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26832" y="882633"/>
            <a:ext cx="3558713" cy="53591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广播直播</a:t>
            </a:r>
            <a:r>
              <a:rPr kumimoji="1" lang="en-US" altLang="zh-CN" sz="2400" b="1" spc="300" dirty="0">
                <a:solidFill>
                  <a:schemeClr val="tx1">
                    <a:lumMod val="85000"/>
                    <a:lumOff val="15000"/>
                  </a:schemeClr>
                </a:solidFill>
                <a:latin typeface="微软雅黑"/>
                <a:ea typeface="微软雅黑"/>
                <a:cs typeface="Helvetica"/>
                <a:sym typeface="Helvetica"/>
              </a:rPr>
              <a:t>:</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2" name="图片 1">
            <a:extLst>
              <a:ext uri="{FF2B5EF4-FFF2-40B4-BE49-F238E27FC236}">
                <a16:creationId xmlns:a16="http://schemas.microsoft.com/office/drawing/2014/main" xmlns="" id="{9E2DE50D-4FBD-917D-7EF1-0EC7F74429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2978" y="1657694"/>
            <a:ext cx="2255938" cy="4881600"/>
          </a:xfrm>
          <a:prstGeom prst="rect">
            <a:avLst/>
          </a:prstGeom>
        </p:spPr>
      </p:pic>
      <p:pic>
        <p:nvPicPr>
          <p:cNvPr id="3" name="图片 2">
            <a:extLst>
              <a:ext uri="{FF2B5EF4-FFF2-40B4-BE49-F238E27FC236}">
                <a16:creationId xmlns:a16="http://schemas.microsoft.com/office/drawing/2014/main" xmlns="" id="{2A432E74-8160-A1FC-A6D8-C5FE1B92CD6E}"/>
              </a:ext>
            </a:extLst>
          </p:cNvPr>
          <p:cNvPicPr>
            <a:picLocks noChangeAspect="1"/>
          </p:cNvPicPr>
          <p:nvPr/>
        </p:nvPicPr>
        <p:blipFill>
          <a:blip r:embed="rId3"/>
          <a:stretch>
            <a:fillRect/>
          </a:stretch>
        </p:blipFill>
        <p:spPr>
          <a:xfrm>
            <a:off x="710541" y="1657694"/>
            <a:ext cx="7250118" cy="4881218"/>
          </a:xfrm>
          <a:prstGeom prst="rect">
            <a:avLst/>
          </a:prstGeom>
        </p:spPr>
      </p:pic>
      <p:sp>
        <p:nvSpPr>
          <p:cNvPr id="6" name="文本框 5">
            <a:extLst>
              <a:ext uri="{FF2B5EF4-FFF2-40B4-BE49-F238E27FC236}">
                <a16:creationId xmlns:a16="http://schemas.microsoft.com/office/drawing/2014/main" xmlns="" id="{B7931863-A474-BCBB-9BD1-C71270961A19}"/>
              </a:ext>
            </a:extLst>
          </p:cNvPr>
          <p:cNvSpPr txBox="1"/>
          <p:nvPr/>
        </p:nvSpPr>
        <p:spPr>
          <a:xfrm>
            <a:off x="1716094" y="104921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rPr>
              <a:t>对接广播电台直播流。</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2478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8</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a:latin typeface="+mn-ea"/>
              </a:rPr>
              <a:t>互动活动系统</a:t>
            </a:r>
            <a:endParaRPr lang="en-US" altLang="zh-CN" dirty="0">
              <a:latin typeface="+mn-ea"/>
            </a:endParaRPr>
          </a:p>
        </p:txBody>
      </p:sp>
      <p:sp>
        <p:nvSpPr>
          <p:cNvPr id="16" name="文本框 15">
            <a:extLst>
              <a:ext uri="{FF2B5EF4-FFF2-40B4-BE49-F238E27FC236}">
                <a16:creationId xmlns:a16="http://schemas.microsoft.com/office/drawing/2014/main" xmlns="" id="{F17F467C-A2DB-344B-DAED-79AB1706EDA3}"/>
              </a:ext>
            </a:extLst>
          </p:cNvPr>
          <p:cNvSpPr txBox="1"/>
          <p:nvPr/>
        </p:nvSpPr>
        <p:spPr>
          <a:xfrm>
            <a:off x="585035" y="1101342"/>
            <a:ext cx="981402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31963">
              <a:lnSpc>
                <a:spcPct val="100000"/>
              </a:lnSpc>
              <a:spcBef>
                <a:spcPts val="0"/>
              </a:spcBef>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Helvetica"/>
                <a:sym typeface="Helvetica"/>
              </a:rPr>
              <a:t>互动活动系统主要为央视新闻</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cs typeface="Helvetica"/>
                <a:sym typeface="Helvetica"/>
              </a:rPr>
              <a:t>APP</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Helvetica"/>
                <a:sym typeface="Helvetica"/>
              </a:rPr>
              <a:t>提供互动和活动系统的后台配置和管理功能。</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cs typeface="Helvetica"/>
              <a:sym typeface="Helvetica"/>
            </a:endParaRPr>
          </a:p>
        </p:txBody>
      </p:sp>
      <p:sp>
        <p:nvSpPr>
          <p:cNvPr id="18" name="一级标题">
            <a:extLst>
              <a:ext uri="{FF2B5EF4-FFF2-40B4-BE49-F238E27FC236}">
                <a16:creationId xmlns:a16="http://schemas.microsoft.com/office/drawing/2014/main" xmlns="" id="{BCC24D17-47F0-5153-4DC2-DFAD731E46D0}"/>
              </a:ext>
            </a:extLst>
          </p:cNvPr>
          <p:cNvSpPr txBox="1"/>
          <p:nvPr/>
        </p:nvSpPr>
        <p:spPr>
          <a:xfrm>
            <a:off x="1413219" y="1738654"/>
            <a:ext cx="3558713"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功能模块</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23" name="一级标题">
            <a:extLst>
              <a:ext uri="{FF2B5EF4-FFF2-40B4-BE49-F238E27FC236}">
                <a16:creationId xmlns:a16="http://schemas.microsoft.com/office/drawing/2014/main" xmlns="" id="{B05A5DBF-7ABD-BC90-64CF-9984D64D0EEA}"/>
              </a:ext>
            </a:extLst>
          </p:cNvPr>
          <p:cNvSpPr txBox="1"/>
          <p:nvPr/>
        </p:nvSpPr>
        <p:spPr>
          <a:xfrm>
            <a:off x="7220068" y="1738654"/>
            <a:ext cx="3558713"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系统首页</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2" name="圆角矩形">
            <a:extLst>
              <a:ext uri="{FF2B5EF4-FFF2-40B4-BE49-F238E27FC236}">
                <a16:creationId xmlns:a16="http://schemas.microsoft.com/office/drawing/2014/main" xmlns="" id="{1005576E-E6F3-41BA-C83F-174B08FA349B}"/>
              </a:ext>
            </a:extLst>
          </p:cNvPr>
          <p:cNvSpPr/>
          <p:nvPr/>
        </p:nvSpPr>
        <p:spPr>
          <a:xfrm>
            <a:off x="585035" y="2542550"/>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投票</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6" name="圆角矩形">
            <a:extLst>
              <a:ext uri="{FF2B5EF4-FFF2-40B4-BE49-F238E27FC236}">
                <a16:creationId xmlns:a16="http://schemas.microsoft.com/office/drawing/2014/main" xmlns="" id="{EC058B5E-3C46-01F4-82C0-84712C3727BE}"/>
              </a:ext>
            </a:extLst>
          </p:cNvPr>
          <p:cNvSpPr/>
          <p:nvPr/>
        </p:nvSpPr>
        <p:spPr>
          <a:xfrm>
            <a:off x="2443280" y="2550360"/>
            <a:ext cx="1389675"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调查问卷</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7" name="圆角矩形">
            <a:extLst>
              <a:ext uri="{FF2B5EF4-FFF2-40B4-BE49-F238E27FC236}">
                <a16:creationId xmlns:a16="http://schemas.microsoft.com/office/drawing/2014/main" xmlns="" id="{15D81FA9-E2C1-79EA-9B48-E72D72ACBEEC}"/>
              </a:ext>
            </a:extLst>
          </p:cNvPr>
          <p:cNvSpPr/>
          <p:nvPr/>
        </p:nvSpPr>
        <p:spPr>
          <a:xfrm>
            <a:off x="585035" y="3313223"/>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报名</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8" name="圆角矩形">
            <a:extLst>
              <a:ext uri="{FF2B5EF4-FFF2-40B4-BE49-F238E27FC236}">
                <a16:creationId xmlns:a16="http://schemas.microsoft.com/office/drawing/2014/main" xmlns="" id="{7D4AAEE0-E661-B4D4-A16F-0B64C1808ECB}"/>
              </a:ext>
            </a:extLst>
          </p:cNvPr>
          <p:cNvSpPr/>
          <p:nvPr/>
        </p:nvSpPr>
        <p:spPr>
          <a:xfrm>
            <a:off x="2452138" y="3325569"/>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抽奖</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9" name="圆角矩形">
            <a:extLst>
              <a:ext uri="{FF2B5EF4-FFF2-40B4-BE49-F238E27FC236}">
                <a16:creationId xmlns:a16="http://schemas.microsoft.com/office/drawing/2014/main" xmlns="" id="{1A246313-F9BA-EF17-F99C-09E4627683C2}"/>
              </a:ext>
            </a:extLst>
          </p:cNvPr>
          <p:cNvSpPr/>
          <p:nvPr/>
        </p:nvSpPr>
        <p:spPr>
          <a:xfrm>
            <a:off x="585035" y="4083896"/>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内容征集</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pic>
        <p:nvPicPr>
          <p:cNvPr id="11" name="图片 10">
            <a:extLst>
              <a:ext uri="{FF2B5EF4-FFF2-40B4-BE49-F238E27FC236}">
                <a16:creationId xmlns:a16="http://schemas.microsoft.com/office/drawing/2014/main" xmlns="" id="{E8EF51E0-5375-58BC-9D04-ACFDEFDF4F3A}"/>
              </a:ext>
            </a:extLst>
          </p:cNvPr>
          <p:cNvPicPr>
            <a:picLocks noChangeAspect="1"/>
          </p:cNvPicPr>
          <p:nvPr/>
        </p:nvPicPr>
        <p:blipFill>
          <a:blip r:embed="rId2"/>
          <a:stretch>
            <a:fillRect/>
          </a:stretch>
        </p:blipFill>
        <p:spPr>
          <a:xfrm>
            <a:off x="4709950" y="2404912"/>
            <a:ext cx="7166393" cy="4116756"/>
          </a:xfrm>
          <a:prstGeom prst="rect">
            <a:avLst/>
          </a:prstGeom>
          <a:ln w="9525">
            <a:solidFill>
              <a:schemeClr val="tx1"/>
            </a:solidFill>
          </a:ln>
        </p:spPr>
      </p:pic>
      <p:sp>
        <p:nvSpPr>
          <p:cNvPr id="12" name="圆角矩形">
            <a:extLst>
              <a:ext uri="{FF2B5EF4-FFF2-40B4-BE49-F238E27FC236}">
                <a16:creationId xmlns:a16="http://schemas.microsoft.com/office/drawing/2014/main" xmlns="" id="{A8014CA6-75A2-FEE8-CE64-5291AE344C0D}"/>
              </a:ext>
            </a:extLst>
          </p:cNvPr>
          <p:cNvSpPr/>
          <p:nvPr/>
        </p:nvSpPr>
        <p:spPr>
          <a:xfrm>
            <a:off x="2443280" y="4083896"/>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1700" b="0" i="0" u="none" strike="noStrike" kern="0" cap="none" spc="0" normalizeH="0" baseline="0" noProof="0" dirty="0">
                <a:ln>
                  <a:noFill/>
                </a:ln>
                <a:solidFill>
                  <a:srgbClr val="000000"/>
                </a:solidFill>
                <a:effectLst/>
                <a:uLnTx/>
                <a:uFillTx/>
                <a:latin typeface="+mj-ea"/>
                <a:ea typeface="+mj-ea"/>
                <a:sym typeface="Helvetica Neue Medium"/>
              </a:rPr>
              <a:t>二维码管理</a:t>
            </a:r>
            <a:endParaRPr kumimoji="0" sz="1700" b="0" i="0" u="none" strike="noStrike" kern="0" cap="none" spc="0" normalizeH="0" baseline="0" noProof="0" dirty="0">
              <a:ln>
                <a:noFill/>
              </a:ln>
              <a:solidFill>
                <a:srgbClr val="000000"/>
              </a:solidFill>
              <a:effectLst/>
              <a:uLnTx/>
              <a:uFillTx/>
              <a:latin typeface="+mj-ea"/>
              <a:ea typeface="+mj-ea"/>
              <a:sym typeface="Helvetica Neue Medium"/>
            </a:endParaRPr>
          </a:p>
        </p:txBody>
      </p:sp>
    </p:spTree>
    <p:extLst>
      <p:ext uri="{BB962C8B-B14F-4D97-AF65-F5344CB8AC3E}">
        <p14:creationId xmlns:p14="http://schemas.microsoft.com/office/powerpoint/2010/main" val="169647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9</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互动活动系统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26833" y="882633"/>
            <a:ext cx="1728862"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投票管理：</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6" name="图片 5">
            <a:extLst>
              <a:ext uri="{FF2B5EF4-FFF2-40B4-BE49-F238E27FC236}">
                <a16:creationId xmlns:a16="http://schemas.microsoft.com/office/drawing/2014/main" xmlns="" id="{DEBEE669-AA10-18E3-9BF1-C79985FFDD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54653" y="1657312"/>
            <a:ext cx="2255561" cy="4881600"/>
          </a:xfrm>
          <a:prstGeom prst="rect">
            <a:avLst/>
          </a:prstGeom>
        </p:spPr>
      </p:pic>
      <p:pic>
        <p:nvPicPr>
          <p:cNvPr id="7" name="图片 6">
            <a:extLst>
              <a:ext uri="{FF2B5EF4-FFF2-40B4-BE49-F238E27FC236}">
                <a16:creationId xmlns:a16="http://schemas.microsoft.com/office/drawing/2014/main" xmlns="" id="{52F70880-366C-C340-92C5-F14E5A47FB23}"/>
              </a:ext>
            </a:extLst>
          </p:cNvPr>
          <p:cNvPicPr>
            <a:picLocks noChangeAspect="1"/>
          </p:cNvPicPr>
          <p:nvPr/>
        </p:nvPicPr>
        <p:blipFill>
          <a:blip r:embed="rId3"/>
          <a:stretch>
            <a:fillRect/>
          </a:stretch>
        </p:blipFill>
        <p:spPr>
          <a:xfrm>
            <a:off x="126832" y="1657694"/>
            <a:ext cx="7218440" cy="4881600"/>
          </a:xfrm>
          <a:prstGeom prst="rect">
            <a:avLst/>
          </a:prstGeom>
        </p:spPr>
      </p:pic>
      <p:pic>
        <p:nvPicPr>
          <p:cNvPr id="8" name="图片 7">
            <a:extLst>
              <a:ext uri="{FF2B5EF4-FFF2-40B4-BE49-F238E27FC236}">
                <a16:creationId xmlns:a16="http://schemas.microsoft.com/office/drawing/2014/main" xmlns="" id="{3DA8C2A1-011B-A2B6-F2F9-301A07946B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09607" y="1657312"/>
            <a:ext cx="2255561" cy="4881600"/>
          </a:xfrm>
          <a:prstGeom prst="rect">
            <a:avLst/>
          </a:prstGeom>
        </p:spPr>
      </p:pic>
      <p:sp>
        <p:nvSpPr>
          <p:cNvPr id="2" name="文本框 1">
            <a:extLst>
              <a:ext uri="{FF2B5EF4-FFF2-40B4-BE49-F238E27FC236}">
                <a16:creationId xmlns:a16="http://schemas.microsoft.com/office/drawing/2014/main" xmlns="" id="{4DDD4E43-6C89-1A9D-570F-BA45D173070C}"/>
              </a:ext>
            </a:extLst>
          </p:cNvPr>
          <p:cNvSpPr txBox="1"/>
          <p:nvPr/>
        </p:nvSpPr>
        <p:spPr>
          <a:xfrm>
            <a:off x="1707823" y="104921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可视化搭建单选投票、多选投票、对比投票等多种投票活动</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0372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10</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问答管理系统</a:t>
            </a:r>
            <a:endParaRPr lang="en-US" altLang="zh-CN" dirty="0">
              <a:latin typeface="+mn-ea"/>
            </a:endParaRPr>
          </a:p>
        </p:txBody>
      </p:sp>
      <p:sp>
        <p:nvSpPr>
          <p:cNvPr id="16" name="文本框 15">
            <a:extLst>
              <a:ext uri="{FF2B5EF4-FFF2-40B4-BE49-F238E27FC236}">
                <a16:creationId xmlns:a16="http://schemas.microsoft.com/office/drawing/2014/main" xmlns="" id="{F17F467C-A2DB-344B-DAED-79AB1706EDA3}"/>
              </a:ext>
            </a:extLst>
          </p:cNvPr>
          <p:cNvSpPr txBox="1"/>
          <p:nvPr/>
        </p:nvSpPr>
        <p:spPr>
          <a:xfrm>
            <a:off x="2529296" y="102939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rPr>
              <a:t>问答管理系统是央视新闻客户端</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rPr>
              <a:t>APP</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rPr>
              <a:t>的“问答模块”的管理后台。</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一级标题">
            <a:extLst>
              <a:ext uri="{FF2B5EF4-FFF2-40B4-BE49-F238E27FC236}">
                <a16:creationId xmlns:a16="http://schemas.microsoft.com/office/drawing/2014/main" xmlns="" id="{BCC24D17-47F0-5153-4DC2-DFAD731E46D0}"/>
              </a:ext>
            </a:extLst>
          </p:cNvPr>
          <p:cNvSpPr txBox="1"/>
          <p:nvPr/>
        </p:nvSpPr>
        <p:spPr>
          <a:xfrm>
            <a:off x="682028" y="1665628"/>
            <a:ext cx="1710933" cy="53591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功能模块</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23" name="一级标题">
            <a:extLst>
              <a:ext uri="{FF2B5EF4-FFF2-40B4-BE49-F238E27FC236}">
                <a16:creationId xmlns:a16="http://schemas.microsoft.com/office/drawing/2014/main" xmlns="" id="{B05A5DBF-7ABD-BC90-64CF-9984D64D0EEA}"/>
              </a:ext>
            </a:extLst>
          </p:cNvPr>
          <p:cNvSpPr txBox="1"/>
          <p:nvPr/>
        </p:nvSpPr>
        <p:spPr>
          <a:xfrm>
            <a:off x="9737351" y="1598819"/>
            <a:ext cx="2162963" cy="53591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客户端首页</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3" name="圆角矩形">
            <a:extLst>
              <a:ext uri="{FF2B5EF4-FFF2-40B4-BE49-F238E27FC236}">
                <a16:creationId xmlns:a16="http://schemas.microsoft.com/office/drawing/2014/main" xmlns="" id="{F89F45C4-44B3-DDD8-5CAF-8E4E6944760F}"/>
              </a:ext>
            </a:extLst>
          </p:cNvPr>
          <p:cNvSpPr/>
          <p:nvPr/>
        </p:nvSpPr>
        <p:spPr>
          <a:xfrm>
            <a:off x="248080" y="2473054"/>
            <a:ext cx="2428833" cy="535917"/>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i="0" u="none" strike="noStrike" kern="0" cap="none" spc="0" normalizeH="0" baseline="0" noProof="0" dirty="0">
                <a:ln>
                  <a:noFill/>
                </a:ln>
                <a:solidFill>
                  <a:srgbClr val="000000"/>
                </a:solidFill>
                <a:effectLst/>
                <a:uLnTx/>
                <a:uFillTx/>
                <a:latin typeface="Helvetica Neue Medium"/>
                <a:sym typeface="Helvetica Neue Medium"/>
              </a:rPr>
              <a:t>问答分类管理</a:t>
            </a:r>
            <a:endParaRPr kumimoji="0" sz="200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10" name="圆角矩形">
            <a:extLst>
              <a:ext uri="{FF2B5EF4-FFF2-40B4-BE49-F238E27FC236}">
                <a16:creationId xmlns:a16="http://schemas.microsoft.com/office/drawing/2014/main" xmlns="" id="{E22FDF1A-5C45-3AAB-FC1C-5C8B799201F9}"/>
              </a:ext>
            </a:extLst>
          </p:cNvPr>
          <p:cNvSpPr/>
          <p:nvPr/>
        </p:nvSpPr>
        <p:spPr>
          <a:xfrm>
            <a:off x="273757" y="3173050"/>
            <a:ext cx="2415655" cy="535917"/>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i="0" u="none" strike="noStrike" kern="0" cap="none" spc="0" normalizeH="0" baseline="0" noProof="0" dirty="0">
                <a:ln>
                  <a:noFill/>
                </a:ln>
                <a:solidFill>
                  <a:srgbClr val="000000"/>
                </a:solidFill>
                <a:effectLst/>
                <a:uLnTx/>
                <a:uFillTx/>
                <a:latin typeface="Helvetica Neue Medium"/>
                <a:sym typeface="Helvetica Neue Medium"/>
              </a:rPr>
              <a:t>问答库</a:t>
            </a:r>
            <a:endParaRPr kumimoji="0" sz="200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14" name="圆角矩形">
            <a:extLst>
              <a:ext uri="{FF2B5EF4-FFF2-40B4-BE49-F238E27FC236}">
                <a16:creationId xmlns:a16="http://schemas.microsoft.com/office/drawing/2014/main" xmlns="" id="{F1F845DD-8141-2670-5C9F-2449D650D0C5}"/>
              </a:ext>
            </a:extLst>
          </p:cNvPr>
          <p:cNvSpPr/>
          <p:nvPr/>
        </p:nvSpPr>
        <p:spPr>
          <a:xfrm>
            <a:off x="257426" y="3873045"/>
            <a:ext cx="2415655" cy="535917"/>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lang="zh-CN" altLang="en-US" sz="2000" kern="0" dirty="0">
                <a:solidFill>
                  <a:srgbClr val="000000"/>
                </a:solidFill>
                <a:latin typeface="Helvetica Neue Medium"/>
                <a:sym typeface="Helvetica Neue Medium"/>
              </a:rPr>
              <a:t>问答审核</a:t>
            </a:r>
            <a:endParaRPr kumimoji="0" sz="2000" i="0" u="none" strike="noStrike" kern="0" cap="none" spc="0" normalizeH="0" baseline="0" noProof="0" dirty="0">
              <a:ln>
                <a:noFill/>
              </a:ln>
              <a:solidFill>
                <a:srgbClr val="000000"/>
              </a:solidFill>
              <a:effectLst/>
              <a:uLnTx/>
              <a:uFillTx/>
              <a:latin typeface="Helvetica Neue Medium"/>
              <a:sym typeface="Helvetica Neue Medium"/>
            </a:endParaRPr>
          </a:p>
        </p:txBody>
      </p:sp>
      <p:pic>
        <p:nvPicPr>
          <p:cNvPr id="17" name="图片 16">
            <a:extLst>
              <a:ext uri="{FF2B5EF4-FFF2-40B4-BE49-F238E27FC236}">
                <a16:creationId xmlns:a16="http://schemas.microsoft.com/office/drawing/2014/main" xmlns="" id="{B000D9AB-4BC8-DE6B-0EBA-340F7F7A78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89457" y="2272770"/>
            <a:ext cx="2428786" cy="4320000"/>
          </a:xfrm>
          <a:prstGeom prst="rect">
            <a:avLst/>
          </a:prstGeom>
        </p:spPr>
      </p:pic>
      <p:pic>
        <p:nvPicPr>
          <p:cNvPr id="19" name="图片 18">
            <a:extLst>
              <a:ext uri="{FF2B5EF4-FFF2-40B4-BE49-F238E27FC236}">
                <a16:creationId xmlns:a16="http://schemas.microsoft.com/office/drawing/2014/main" xmlns="" id="{7A9A3E8A-53EF-AEA9-FAA2-FE7B0A48EB88}"/>
              </a:ext>
            </a:extLst>
          </p:cNvPr>
          <p:cNvPicPr>
            <a:picLocks noChangeAspect="1"/>
          </p:cNvPicPr>
          <p:nvPr/>
        </p:nvPicPr>
        <p:blipFill>
          <a:blip r:embed="rId3"/>
          <a:stretch>
            <a:fillRect/>
          </a:stretch>
        </p:blipFill>
        <p:spPr>
          <a:xfrm>
            <a:off x="3034869" y="2272770"/>
            <a:ext cx="6076468" cy="3609079"/>
          </a:xfrm>
          <a:prstGeom prst="rect">
            <a:avLst/>
          </a:prstGeom>
        </p:spPr>
      </p:pic>
      <p:sp>
        <p:nvSpPr>
          <p:cNvPr id="20" name="一级标题">
            <a:extLst>
              <a:ext uri="{FF2B5EF4-FFF2-40B4-BE49-F238E27FC236}">
                <a16:creationId xmlns:a16="http://schemas.microsoft.com/office/drawing/2014/main" xmlns="" id="{F18ED543-F569-B342-71E6-F061BA7ED7AC}"/>
              </a:ext>
            </a:extLst>
          </p:cNvPr>
          <p:cNvSpPr txBox="1"/>
          <p:nvPr/>
        </p:nvSpPr>
        <p:spPr>
          <a:xfrm>
            <a:off x="5092663" y="1665628"/>
            <a:ext cx="1710933" cy="53591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系统首页</a:t>
            </a:r>
            <a:endParaRPr kumimoji="1" sz="2400" b="1" spc="300" dirty="0">
              <a:solidFill>
                <a:schemeClr val="tx1">
                  <a:lumMod val="85000"/>
                  <a:lumOff val="15000"/>
                </a:schemeClr>
              </a:solidFill>
              <a:latin typeface="微软雅黑"/>
              <a:ea typeface="微软雅黑"/>
              <a:cs typeface="Helvetica"/>
              <a:sym typeface="Helvetica"/>
            </a:endParaRPr>
          </a:p>
        </p:txBody>
      </p:sp>
    </p:spTree>
    <p:extLst>
      <p:ext uri="{BB962C8B-B14F-4D97-AF65-F5344CB8AC3E}">
        <p14:creationId xmlns:p14="http://schemas.microsoft.com/office/powerpoint/2010/main" val="4110434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11</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问答管理系统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26833" y="882633"/>
            <a:ext cx="1710932" cy="53591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问题管理：</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3" name="图片 2">
            <a:extLst>
              <a:ext uri="{FF2B5EF4-FFF2-40B4-BE49-F238E27FC236}">
                <a16:creationId xmlns:a16="http://schemas.microsoft.com/office/drawing/2014/main" xmlns="" id="{7A96C193-C6F2-78A1-474F-3E3EE5F030DF}"/>
              </a:ext>
            </a:extLst>
          </p:cNvPr>
          <p:cNvPicPr>
            <a:picLocks noChangeAspect="1"/>
          </p:cNvPicPr>
          <p:nvPr/>
        </p:nvPicPr>
        <p:blipFill>
          <a:blip r:embed="rId2"/>
          <a:stretch>
            <a:fillRect/>
          </a:stretch>
        </p:blipFill>
        <p:spPr>
          <a:xfrm>
            <a:off x="241262" y="1538684"/>
            <a:ext cx="8173065" cy="4854339"/>
          </a:xfrm>
          <a:prstGeom prst="rect">
            <a:avLst/>
          </a:prstGeom>
        </p:spPr>
      </p:pic>
      <p:pic>
        <p:nvPicPr>
          <p:cNvPr id="7" name="图片 6">
            <a:extLst>
              <a:ext uri="{FF2B5EF4-FFF2-40B4-BE49-F238E27FC236}">
                <a16:creationId xmlns:a16="http://schemas.microsoft.com/office/drawing/2014/main" xmlns="" id="{7E418C4C-196D-3453-DC62-77374F308B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286" y="1540223"/>
            <a:ext cx="2728336" cy="4852800"/>
          </a:xfrm>
          <a:prstGeom prst="rect">
            <a:avLst/>
          </a:prstGeom>
        </p:spPr>
      </p:pic>
      <p:sp>
        <p:nvSpPr>
          <p:cNvPr id="8" name="文本框 7">
            <a:extLst>
              <a:ext uri="{FF2B5EF4-FFF2-40B4-BE49-F238E27FC236}">
                <a16:creationId xmlns:a16="http://schemas.microsoft.com/office/drawing/2014/main" xmlns="" id="{D736ED47-7C66-E558-D8C4-D06381B6DB1C}"/>
              </a:ext>
            </a:extLst>
          </p:cNvPr>
          <p:cNvSpPr txBox="1"/>
          <p:nvPr/>
        </p:nvSpPr>
        <p:spPr>
          <a:xfrm>
            <a:off x="1707823" y="104921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马甲发布问题、马甲进行回答、正能量库。</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1169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xmlns="" id="{1BEFD870-084D-26DF-F820-84E3D5D4D46F}"/>
              </a:ext>
            </a:extLst>
          </p:cNvPr>
          <p:cNvPicPr>
            <a:picLocks noChangeAspect="1"/>
          </p:cNvPicPr>
          <p:nvPr/>
        </p:nvPicPr>
        <p:blipFill>
          <a:blip r:embed="rId2"/>
          <a:stretch>
            <a:fillRect/>
          </a:stretch>
        </p:blipFill>
        <p:spPr>
          <a:xfrm>
            <a:off x="5061528" y="2615268"/>
            <a:ext cx="6950042" cy="4127933"/>
          </a:xfrm>
          <a:prstGeom prst="rect">
            <a:avLst/>
          </a:prstGeom>
        </p:spPr>
      </p:pic>
      <p:sp>
        <p:nvSpPr>
          <p:cNvPr id="4" name="Slide Number Placeholder 3"/>
          <p:cNvSpPr>
            <a:spLocks noGrp="1"/>
          </p:cNvSpPr>
          <p:nvPr>
            <p:ph type="sldNum" sz="quarter" idx="12"/>
          </p:nvPr>
        </p:nvSpPr>
        <p:spPr/>
        <p:txBody>
          <a:bodyPr/>
          <a:lstStyle/>
          <a:p>
            <a:fld id="{4B1B0860-3CE7-4EC1-80B2-E4FAEF86BBEB}" type="slidenum">
              <a:rPr lang="zh-CN" altLang="en-US" smtClean="0"/>
              <a:t>12</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问答管理系统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704245" y="882633"/>
            <a:ext cx="3558713"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问题审核</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2" name="图片 1">
            <a:extLst>
              <a:ext uri="{FF2B5EF4-FFF2-40B4-BE49-F238E27FC236}">
                <a16:creationId xmlns:a16="http://schemas.microsoft.com/office/drawing/2014/main" xmlns="" id="{C845BFC3-902E-85ED-50F6-AC3889FFCCB0}"/>
              </a:ext>
            </a:extLst>
          </p:cNvPr>
          <p:cNvPicPr>
            <a:picLocks noChangeAspect="1"/>
          </p:cNvPicPr>
          <p:nvPr/>
        </p:nvPicPr>
        <p:blipFill>
          <a:blip r:embed="rId3"/>
          <a:stretch>
            <a:fillRect/>
          </a:stretch>
        </p:blipFill>
        <p:spPr>
          <a:xfrm>
            <a:off x="180430" y="1469351"/>
            <a:ext cx="6606341" cy="3693775"/>
          </a:xfrm>
          <a:prstGeom prst="rect">
            <a:avLst/>
          </a:prstGeom>
        </p:spPr>
      </p:pic>
      <p:sp>
        <p:nvSpPr>
          <p:cNvPr id="8" name="一级标题">
            <a:extLst>
              <a:ext uri="{FF2B5EF4-FFF2-40B4-BE49-F238E27FC236}">
                <a16:creationId xmlns:a16="http://schemas.microsoft.com/office/drawing/2014/main" xmlns="" id="{D5C48B02-0ED2-4623-ABDA-886A84C19403}"/>
              </a:ext>
            </a:extLst>
          </p:cNvPr>
          <p:cNvSpPr txBox="1"/>
          <p:nvPr/>
        </p:nvSpPr>
        <p:spPr>
          <a:xfrm>
            <a:off x="7794101" y="2079352"/>
            <a:ext cx="3558713"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回答审核</a:t>
            </a:r>
            <a:endParaRPr kumimoji="1" sz="2400" b="1" spc="300" dirty="0">
              <a:solidFill>
                <a:schemeClr val="tx1">
                  <a:lumMod val="85000"/>
                  <a:lumOff val="15000"/>
                </a:schemeClr>
              </a:solidFill>
              <a:latin typeface="微软雅黑"/>
              <a:ea typeface="微软雅黑"/>
              <a:cs typeface="Helvetica"/>
              <a:sym typeface="Helvetica"/>
            </a:endParaRPr>
          </a:p>
        </p:txBody>
      </p:sp>
    </p:spTree>
    <p:extLst>
      <p:ext uri="{BB962C8B-B14F-4D97-AF65-F5344CB8AC3E}">
        <p14:creationId xmlns:p14="http://schemas.microsoft.com/office/powerpoint/2010/main" val="376302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13</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用户激励系统</a:t>
            </a:r>
            <a:endParaRPr lang="en-US" altLang="zh-CN" dirty="0">
              <a:latin typeface="+mn-ea"/>
            </a:endParaRPr>
          </a:p>
        </p:txBody>
      </p:sp>
      <p:sp>
        <p:nvSpPr>
          <p:cNvPr id="16" name="文本框 15">
            <a:extLst>
              <a:ext uri="{FF2B5EF4-FFF2-40B4-BE49-F238E27FC236}">
                <a16:creationId xmlns:a16="http://schemas.microsoft.com/office/drawing/2014/main" xmlns="" id="{F17F467C-A2DB-344B-DAED-79AB1706EDA3}"/>
              </a:ext>
            </a:extLst>
          </p:cNvPr>
          <p:cNvSpPr txBox="1"/>
          <p:nvPr/>
        </p:nvSpPr>
        <p:spPr>
          <a:xfrm>
            <a:off x="1537494" y="102939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用户激励系统是针对央视新闻客户端</a:t>
            </a:r>
            <a:r>
              <a:rPr lang="en-US"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APP</a:t>
            </a:r>
            <a:r>
              <a:rPr lang="zh-CN" altLang="zh-CN" sz="1800" dirty="0">
                <a:effectLst/>
                <a:latin typeface="微软雅黑" panose="020B0503020204020204" pitchFamily="34" charset="-122"/>
                <a:ea typeface="微软雅黑" panose="020B0503020204020204" pitchFamily="34" charset="-122"/>
                <a:cs typeface="Times New Roman" panose="02020603050405020304" pitchFamily="18" charset="0"/>
              </a:rPr>
              <a:t>用户进行用户管理和激励管理的管理后台</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一级标题">
            <a:extLst>
              <a:ext uri="{FF2B5EF4-FFF2-40B4-BE49-F238E27FC236}">
                <a16:creationId xmlns:a16="http://schemas.microsoft.com/office/drawing/2014/main" xmlns="" id="{BCC24D17-47F0-5153-4DC2-DFAD731E46D0}"/>
              </a:ext>
            </a:extLst>
          </p:cNvPr>
          <p:cNvSpPr txBox="1"/>
          <p:nvPr/>
        </p:nvSpPr>
        <p:spPr>
          <a:xfrm>
            <a:off x="918672" y="1703225"/>
            <a:ext cx="1710933"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功能模块</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23" name="一级标题">
            <a:extLst>
              <a:ext uri="{FF2B5EF4-FFF2-40B4-BE49-F238E27FC236}">
                <a16:creationId xmlns:a16="http://schemas.microsoft.com/office/drawing/2014/main" xmlns="" id="{B05A5DBF-7ABD-BC90-64CF-9984D64D0EEA}"/>
              </a:ext>
            </a:extLst>
          </p:cNvPr>
          <p:cNvSpPr txBox="1"/>
          <p:nvPr/>
        </p:nvSpPr>
        <p:spPr>
          <a:xfrm>
            <a:off x="9737351" y="1598819"/>
            <a:ext cx="2162963"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客户端首页</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20" name="一级标题">
            <a:extLst>
              <a:ext uri="{FF2B5EF4-FFF2-40B4-BE49-F238E27FC236}">
                <a16:creationId xmlns:a16="http://schemas.microsoft.com/office/drawing/2014/main" xmlns="" id="{F18ED543-F569-B342-71E6-F061BA7ED7AC}"/>
              </a:ext>
            </a:extLst>
          </p:cNvPr>
          <p:cNvSpPr txBox="1"/>
          <p:nvPr/>
        </p:nvSpPr>
        <p:spPr>
          <a:xfrm>
            <a:off x="5604235" y="1725158"/>
            <a:ext cx="1710933"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系统首页</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2" name="圆角矩形">
            <a:extLst>
              <a:ext uri="{FF2B5EF4-FFF2-40B4-BE49-F238E27FC236}">
                <a16:creationId xmlns:a16="http://schemas.microsoft.com/office/drawing/2014/main" xmlns="" id="{32800BFC-06B0-B3EE-B3AF-FA1206CF6C7F}"/>
              </a:ext>
            </a:extLst>
          </p:cNvPr>
          <p:cNvSpPr/>
          <p:nvPr/>
        </p:nvSpPr>
        <p:spPr>
          <a:xfrm>
            <a:off x="273757" y="2468443"/>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lang="zh-CN" altLang="en-US" sz="2000" kern="0" dirty="0">
                <a:solidFill>
                  <a:srgbClr val="000000"/>
                </a:solidFill>
                <a:latin typeface="Helvetica Neue Medium"/>
                <a:sym typeface="Helvetica Neue Medium"/>
              </a:rPr>
              <a:t>积分任务</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6" name="圆角矩形">
            <a:extLst>
              <a:ext uri="{FF2B5EF4-FFF2-40B4-BE49-F238E27FC236}">
                <a16:creationId xmlns:a16="http://schemas.microsoft.com/office/drawing/2014/main" xmlns="" id="{33C4848B-80B4-DFC2-91DE-FA3E5673BFC9}"/>
              </a:ext>
            </a:extLst>
          </p:cNvPr>
          <p:cNvSpPr/>
          <p:nvPr/>
        </p:nvSpPr>
        <p:spPr>
          <a:xfrm>
            <a:off x="1934779" y="2483937"/>
            <a:ext cx="1389675"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等级管理</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7" name="圆角矩形">
            <a:extLst>
              <a:ext uri="{FF2B5EF4-FFF2-40B4-BE49-F238E27FC236}">
                <a16:creationId xmlns:a16="http://schemas.microsoft.com/office/drawing/2014/main" xmlns="" id="{AD63D309-1F1F-660F-D24F-07DD8AEA8E3A}"/>
              </a:ext>
            </a:extLst>
          </p:cNvPr>
          <p:cNvSpPr/>
          <p:nvPr/>
        </p:nvSpPr>
        <p:spPr>
          <a:xfrm>
            <a:off x="273757" y="3239116"/>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1700" b="0" i="0" u="none" strike="noStrike" kern="0" cap="none" spc="0" normalizeH="0" baseline="0" noProof="0" dirty="0">
                <a:ln>
                  <a:noFill/>
                </a:ln>
                <a:solidFill>
                  <a:srgbClr val="000000"/>
                </a:solidFill>
                <a:effectLst/>
                <a:uLnTx/>
                <a:uFillTx/>
                <a:latin typeface="Helvetica Neue Medium"/>
                <a:sym typeface="Helvetica Neue Medium"/>
              </a:rPr>
              <a:t>成长值任务</a:t>
            </a:r>
            <a:endParaRPr kumimoji="0" sz="17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8" name="圆角矩形">
            <a:extLst>
              <a:ext uri="{FF2B5EF4-FFF2-40B4-BE49-F238E27FC236}">
                <a16:creationId xmlns:a16="http://schemas.microsoft.com/office/drawing/2014/main" xmlns="" id="{0C12DF7C-9FB1-3F24-9168-6105475B25D0}"/>
              </a:ext>
            </a:extLst>
          </p:cNvPr>
          <p:cNvSpPr/>
          <p:nvPr/>
        </p:nvSpPr>
        <p:spPr>
          <a:xfrm>
            <a:off x="1943637" y="3259146"/>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勋章管理</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9" name="圆角矩形">
            <a:extLst>
              <a:ext uri="{FF2B5EF4-FFF2-40B4-BE49-F238E27FC236}">
                <a16:creationId xmlns:a16="http://schemas.microsoft.com/office/drawing/2014/main" xmlns="" id="{7D3F1037-E140-4D0A-3986-5109E001EFE2}"/>
              </a:ext>
            </a:extLst>
          </p:cNvPr>
          <p:cNvSpPr/>
          <p:nvPr/>
        </p:nvSpPr>
        <p:spPr>
          <a:xfrm>
            <a:off x="273757" y="4009789"/>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商品管理</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sp>
        <p:nvSpPr>
          <p:cNvPr id="11" name="圆角矩形">
            <a:extLst>
              <a:ext uri="{FF2B5EF4-FFF2-40B4-BE49-F238E27FC236}">
                <a16:creationId xmlns:a16="http://schemas.microsoft.com/office/drawing/2014/main" xmlns="" id="{7C1360CE-3803-A604-A6C4-F425AE7C77C3}"/>
              </a:ext>
            </a:extLst>
          </p:cNvPr>
          <p:cNvSpPr/>
          <p:nvPr/>
        </p:nvSpPr>
        <p:spPr>
          <a:xfrm>
            <a:off x="1934779" y="4017473"/>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1700" b="0" i="0" u="none" strike="noStrike" kern="0" cap="none" spc="0" normalizeH="0" baseline="0" noProof="0" dirty="0">
                <a:ln>
                  <a:noFill/>
                </a:ln>
                <a:solidFill>
                  <a:srgbClr val="000000"/>
                </a:solidFill>
                <a:effectLst/>
                <a:uLnTx/>
                <a:uFillTx/>
                <a:latin typeface="+mj-ea"/>
                <a:ea typeface="+mj-ea"/>
                <a:sym typeface="Helvetica Neue Medium"/>
              </a:rPr>
              <a:t>订单管理</a:t>
            </a:r>
            <a:endParaRPr kumimoji="0" sz="1700" b="0" i="0" u="none" strike="noStrike" kern="0" cap="none" spc="0" normalizeH="0" baseline="0" noProof="0" dirty="0">
              <a:ln>
                <a:noFill/>
              </a:ln>
              <a:solidFill>
                <a:srgbClr val="000000"/>
              </a:solidFill>
              <a:effectLst/>
              <a:uLnTx/>
              <a:uFillTx/>
              <a:latin typeface="+mj-ea"/>
              <a:ea typeface="+mj-ea"/>
              <a:sym typeface="Helvetica Neue Medium"/>
            </a:endParaRPr>
          </a:p>
        </p:txBody>
      </p:sp>
      <p:sp>
        <p:nvSpPr>
          <p:cNvPr id="12" name="圆角矩形">
            <a:extLst>
              <a:ext uri="{FF2B5EF4-FFF2-40B4-BE49-F238E27FC236}">
                <a16:creationId xmlns:a16="http://schemas.microsoft.com/office/drawing/2014/main" xmlns="" id="{EC1602EF-FAFF-62C3-D6BB-12BCF3AF0B70}"/>
              </a:ext>
            </a:extLst>
          </p:cNvPr>
          <p:cNvSpPr/>
          <p:nvPr/>
        </p:nvSpPr>
        <p:spPr>
          <a:xfrm>
            <a:off x="273757" y="4780462"/>
            <a:ext cx="1389652" cy="406488"/>
          </a:xfrm>
          <a:prstGeom prst="roundRect">
            <a:avLst>
              <a:gd name="adj" fmla="val 14171"/>
            </a:avLst>
          </a:prstGeom>
          <a:solidFill>
            <a:schemeClr val="bg1"/>
          </a:solidFill>
          <a:ln w="12700">
            <a:solidFill>
              <a:schemeClr val="tx1"/>
            </a:solidFill>
            <a:miter lim="400000"/>
          </a:ln>
        </p:spPr>
        <p:txBody>
          <a:bodyPr lIns="50773" tIns="50773" rIns="50773" bIns="50773" anchor="ctr"/>
          <a:lstStyle/>
          <a:p>
            <a:pPr marL="0" marR="0" lvl="0" indent="0" algn="ctr" defTabSz="825100" rtl="0" eaLnBrk="1" fontAlgn="auto" latinLnBrk="0" hangingPunct="0">
              <a:lnSpc>
                <a:spcPct val="90000"/>
              </a:lnSpc>
              <a:spcBef>
                <a:spcPts val="450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r>
              <a:rPr kumimoji="0" lang="zh-CN" altLang="en-US" sz="2000" b="0" i="0" u="none" strike="noStrike" kern="0" cap="none" spc="0" normalizeH="0" baseline="0" noProof="0" dirty="0">
                <a:ln>
                  <a:noFill/>
                </a:ln>
                <a:solidFill>
                  <a:srgbClr val="000000"/>
                </a:solidFill>
                <a:effectLst/>
                <a:uLnTx/>
                <a:uFillTx/>
                <a:latin typeface="Helvetica Neue Medium"/>
                <a:sym typeface="Helvetica Neue Medium"/>
              </a:rPr>
              <a:t>商城运营</a:t>
            </a:r>
            <a:endParaRPr kumimoji="0" sz="2000" b="0" i="0" u="none" strike="noStrike" kern="0" cap="none" spc="0" normalizeH="0" baseline="0" noProof="0" dirty="0">
              <a:ln>
                <a:noFill/>
              </a:ln>
              <a:solidFill>
                <a:srgbClr val="000000"/>
              </a:solidFill>
              <a:effectLst/>
              <a:uLnTx/>
              <a:uFillTx/>
              <a:latin typeface="Helvetica Neue Medium"/>
              <a:sym typeface="Helvetica Neue Medium"/>
            </a:endParaRPr>
          </a:p>
        </p:txBody>
      </p:sp>
      <p:pic>
        <p:nvPicPr>
          <p:cNvPr id="15" name="图片 14">
            <a:extLst>
              <a:ext uri="{FF2B5EF4-FFF2-40B4-BE49-F238E27FC236}">
                <a16:creationId xmlns:a16="http://schemas.microsoft.com/office/drawing/2014/main" xmlns="" id="{E9D50CFA-C3D0-8400-5379-C19C2BA3E3C4}"/>
              </a:ext>
            </a:extLst>
          </p:cNvPr>
          <p:cNvPicPr>
            <a:picLocks noChangeAspect="1"/>
          </p:cNvPicPr>
          <p:nvPr/>
        </p:nvPicPr>
        <p:blipFill>
          <a:blip r:embed="rId2"/>
          <a:stretch>
            <a:fillRect/>
          </a:stretch>
        </p:blipFill>
        <p:spPr>
          <a:xfrm>
            <a:off x="3715653" y="2336927"/>
            <a:ext cx="5488099" cy="2953039"/>
          </a:xfrm>
          <a:prstGeom prst="rect">
            <a:avLst/>
          </a:prstGeom>
        </p:spPr>
      </p:pic>
      <p:pic>
        <p:nvPicPr>
          <p:cNvPr id="21" name="图片 20">
            <a:extLst>
              <a:ext uri="{FF2B5EF4-FFF2-40B4-BE49-F238E27FC236}">
                <a16:creationId xmlns:a16="http://schemas.microsoft.com/office/drawing/2014/main" xmlns="" id="{9C5EE9D0-F8F6-AF27-6C43-915E8F3F9E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3832" y="2262881"/>
            <a:ext cx="2430000" cy="4322160"/>
          </a:xfrm>
          <a:prstGeom prst="rect">
            <a:avLst/>
          </a:prstGeom>
        </p:spPr>
      </p:pic>
    </p:spTree>
    <p:extLst>
      <p:ext uri="{BB962C8B-B14F-4D97-AF65-F5344CB8AC3E}">
        <p14:creationId xmlns:p14="http://schemas.microsoft.com/office/powerpoint/2010/main" val="1715836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14</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用户激励系统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26833" y="882633"/>
            <a:ext cx="1675074"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积分任务：</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6" name="图片 5">
            <a:extLst>
              <a:ext uri="{FF2B5EF4-FFF2-40B4-BE49-F238E27FC236}">
                <a16:creationId xmlns:a16="http://schemas.microsoft.com/office/drawing/2014/main" xmlns="" id="{53C2D81A-D07C-09E3-0AED-73F1297E855B}"/>
              </a:ext>
            </a:extLst>
          </p:cNvPr>
          <p:cNvPicPr>
            <a:picLocks noChangeAspect="1"/>
          </p:cNvPicPr>
          <p:nvPr/>
        </p:nvPicPr>
        <p:blipFill>
          <a:blip r:embed="rId2"/>
          <a:stretch>
            <a:fillRect/>
          </a:stretch>
        </p:blipFill>
        <p:spPr>
          <a:xfrm>
            <a:off x="199583" y="1587100"/>
            <a:ext cx="8172000" cy="4388267"/>
          </a:xfrm>
          <a:prstGeom prst="rect">
            <a:avLst/>
          </a:prstGeom>
        </p:spPr>
      </p:pic>
      <p:pic>
        <p:nvPicPr>
          <p:cNvPr id="8" name="图片 7">
            <a:extLst>
              <a:ext uri="{FF2B5EF4-FFF2-40B4-BE49-F238E27FC236}">
                <a16:creationId xmlns:a16="http://schemas.microsoft.com/office/drawing/2014/main" xmlns="" id="{987236D8-B945-D214-9E40-DBD6C22C6868}"/>
              </a:ext>
            </a:extLst>
          </p:cNvPr>
          <p:cNvPicPr>
            <a:picLocks noChangeAspect="1"/>
          </p:cNvPicPr>
          <p:nvPr/>
        </p:nvPicPr>
        <p:blipFill rotWithShape="1">
          <a:blip r:embed="rId3"/>
          <a:srcRect l="58743"/>
          <a:stretch/>
        </p:blipFill>
        <p:spPr>
          <a:xfrm>
            <a:off x="8504351" y="1435382"/>
            <a:ext cx="3488066" cy="4539985"/>
          </a:xfrm>
          <a:prstGeom prst="rect">
            <a:avLst/>
          </a:prstGeom>
        </p:spPr>
      </p:pic>
      <p:sp>
        <p:nvSpPr>
          <p:cNvPr id="9" name="文本框 8">
            <a:extLst>
              <a:ext uri="{FF2B5EF4-FFF2-40B4-BE49-F238E27FC236}">
                <a16:creationId xmlns:a16="http://schemas.microsoft.com/office/drawing/2014/main" xmlns="" id="{EC274C4F-1DF1-5167-0C04-FA181D3573DB}"/>
              </a:ext>
            </a:extLst>
          </p:cNvPr>
          <p:cNvSpPr txBox="1"/>
          <p:nvPr/>
        </p:nvSpPr>
        <p:spPr>
          <a:xfrm>
            <a:off x="1707823" y="104921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800" dirty="0">
                <a:effectLst/>
                <a:latin typeface="微软雅黑" panose="020B0503020204020204" pitchFamily="34" charset="-122"/>
                <a:ea typeface="微软雅黑" panose="020B0503020204020204" pitchFamily="34" charset="-122"/>
                <a:cs typeface="Times New Roman" panose="02020603050405020304" pitchFamily="18" charset="0"/>
              </a:rPr>
              <a:t>涵盖内容浏览方面的多种任务类型和算法规则</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51079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15</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用户激励系统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585035" y="942288"/>
            <a:ext cx="1684038"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积分中心</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2" name="图片 1">
            <a:extLst>
              <a:ext uri="{FF2B5EF4-FFF2-40B4-BE49-F238E27FC236}">
                <a16:creationId xmlns:a16="http://schemas.microsoft.com/office/drawing/2014/main" xmlns="" id="{A747C91D-C146-C69B-DEA6-959E603118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68346" y="1644548"/>
            <a:ext cx="2728336" cy="4852800"/>
          </a:xfrm>
          <a:prstGeom prst="rect">
            <a:avLst/>
          </a:prstGeom>
        </p:spPr>
      </p:pic>
      <p:pic>
        <p:nvPicPr>
          <p:cNvPr id="6" name="图片 5">
            <a:extLst>
              <a:ext uri="{FF2B5EF4-FFF2-40B4-BE49-F238E27FC236}">
                <a16:creationId xmlns:a16="http://schemas.microsoft.com/office/drawing/2014/main" xmlns="" id="{F0C4321D-8658-978C-2E8B-4DD8E5060E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691" y="1657995"/>
            <a:ext cx="2728336" cy="4852800"/>
          </a:xfrm>
          <a:prstGeom prst="rect">
            <a:avLst/>
          </a:prstGeom>
        </p:spPr>
      </p:pic>
      <p:pic>
        <p:nvPicPr>
          <p:cNvPr id="8" name="图片 7">
            <a:extLst>
              <a:ext uri="{FF2B5EF4-FFF2-40B4-BE49-F238E27FC236}">
                <a16:creationId xmlns:a16="http://schemas.microsoft.com/office/drawing/2014/main" xmlns="" id="{D52B30F3-F875-EB3A-D2B4-1CA0E330F4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3035" y="1657995"/>
            <a:ext cx="2728336" cy="4852800"/>
          </a:xfrm>
          <a:prstGeom prst="rect">
            <a:avLst/>
          </a:prstGeom>
        </p:spPr>
      </p:pic>
      <p:pic>
        <p:nvPicPr>
          <p:cNvPr id="10" name="图片 9">
            <a:extLst>
              <a:ext uri="{FF2B5EF4-FFF2-40B4-BE49-F238E27FC236}">
                <a16:creationId xmlns:a16="http://schemas.microsoft.com/office/drawing/2014/main" xmlns="" id="{C0E789F3-6B7F-8E30-6896-19FC36E6EE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8435" y="1625474"/>
            <a:ext cx="2825902" cy="5026338"/>
          </a:xfrm>
          <a:prstGeom prst="rect">
            <a:avLst/>
          </a:prstGeom>
        </p:spPr>
      </p:pic>
      <p:sp>
        <p:nvSpPr>
          <p:cNvPr id="11" name="一级标题">
            <a:extLst>
              <a:ext uri="{FF2B5EF4-FFF2-40B4-BE49-F238E27FC236}">
                <a16:creationId xmlns:a16="http://schemas.microsoft.com/office/drawing/2014/main" xmlns="" id="{23A4297D-4819-23F0-FEF9-1FAC84201BC3}"/>
              </a:ext>
            </a:extLst>
          </p:cNvPr>
          <p:cNvSpPr txBox="1"/>
          <p:nvPr/>
        </p:nvSpPr>
        <p:spPr>
          <a:xfrm>
            <a:off x="3884047" y="942288"/>
            <a:ext cx="1684038"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等级中心</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12" name="一级标题">
            <a:extLst>
              <a:ext uri="{FF2B5EF4-FFF2-40B4-BE49-F238E27FC236}">
                <a16:creationId xmlns:a16="http://schemas.microsoft.com/office/drawing/2014/main" xmlns="" id="{C6C9C832-252F-3E56-F34C-A01750E06C09}"/>
              </a:ext>
            </a:extLst>
          </p:cNvPr>
          <p:cNvSpPr txBox="1"/>
          <p:nvPr/>
        </p:nvSpPr>
        <p:spPr>
          <a:xfrm>
            <a:off x="6822840" y="942288"/>
            <a:ext cx="1962572"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成长值任务</a:t>
            </a:r>
            <a:endParaRPr kumimoji="1" sz="2400" b="1" spc="300" dirty="0">
              <a:solidFill>
                <a:schemeClr val="tx1">
                  <a:lumMod val="85000"/>
                  <a:lumOff val="15000"/>
                </a:schemeClr>
              </a:solidFill>
              <a:latin typeface="微软雅黑"/>
              <a:ea typeface="微软雅黑"/>
              <a:cs typeface="Helvetica"/>
              <a:sym typeface="Helvetica"/>
            </a:endParaRPr>
          </a:p>
        </p:txBody>
      </p:sp>
      <p:sp>
        <p:nvSpPr>
          <p:cNvPr id="13" name="一级标题">
            <a:extLst>
              <a:ext uri="{FF2B5EF4-FFF2-40B4-BE49-F238E27FC236}">
                <a16:creationId xmlns:a16="http://schemas.microsoft.com/office/drawing/2014/main" xmlns="" id="{98096F1D-1919-900E-00D6-9F26BD2F6DE3}"/>
              </a:ext>
            </a:extLst>
          </p:cNvPr>
          <p:cNvSpPr txBox="1"/>
          <p:nvPr/>
        </p:nvSpPr>
        <p:spPr>
          <a:xfrm>
            <a:off x="9715917" y="942288"/>
            <a:ext cx="1962572" cy="535916"/>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勋章任务</a:t>
            </a:r>
            <a:endParaRPr kumimoji="1" sz="2400" b="1" spc="300" dirty="0">
              <a:solidFill>
                <a:schemeClr val="tx1">
                  <a:lumMod val="85000"/>
                  <a:lumOff val="15000"/>
                </a:schemeClr>
              </a:solidFill>
              <a:latin typeface="微软雅黑"/>
              <a:ea typeface="微软雅黑"/>
              <a:cs typeface="Helvetica"/>
              <a:sym typeface="Helvetica"/>
            </a:endParaRPr>
          </a:p>
        </p:txBody>
      </p:sp>
    </p:spTree>
    <p:extLst>
      <p:ext uri="{BB962C8B-B14F-4D97-AF65-F5344CB8AC3E}">
        <p14:creationId xmlns:p14="http://schemas.microsoft.com/office/powerpoint/2010/main" val="4109561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B1B0860-3CE7-4EC1-80B2-E4FAEF86BBEB}" type="slidenum">
              <a:rPr lang="zh-CN" altLang="en-US" smtClean="0"/>
              <a:t>16</a:t>
            </a:fld>
            <a:endParaRPr lang="zh-CN" altLang="en-US"/>
          </a:p>
        </p:txBody>
      </p:sp>
      <p:sp>
        <p:nvSpPr>
          <p:cNvPr id="5" name="标题 1"/>
          <p:cNvSpPr>
            <a:spLocks noGrp="1"/>
          </p:cNvSpPr>
          <p:nvPr>
            <p:ph type="title"/>
          </p:nvPr>
        </p:nvSpPr>
        <p:spPr>
          <a:xfrm>
            <a:off x="585035" y="114799"/>
            <a:ext cx="8748000" cy="647699"/>
          </a:xfrm>
        </p:spPr>
        <p:txBody>
          <a:bodyPr/>
          <a:lstStyle/>
          <a:p>
            <a:pPr>
              <a:spcBef>
                <a:spcPts val="600"/>
              </a:spcBef>
            </a:pPr>
            <a:r>
              <a:rPr lang="zh-CN" altLang="en-US" dirty="0">
                <a:latin typeface="+mn-ea"/>
              </a:rPr>
              <a:t>用户激励系统</a:t>
            </a:r>
            <a:endParaRPr lang="en-US" altLang="zh-CN" dirty="0">
              <a:latin typeface="+mn-ea"/>
            </a:endParaRPr>
          </a:p>
        </p:txBody>
      </p:sp>
      <p:sp>
        <p:nvSpPr>
          <p:cNvPr id="15" name="一级标题">
            <a:extLst>
              <a:ext uri="{FF2B5EF4-FFF2-40B4-BE49-F238E27FC236}">
                <a16:creationId xmlns:a16="http://schemas.microsoft.com/office/drawing/2014/main" xmlns="" id="{BE8A1472-C75D-E4AD-591E-ADF403103C4D}"/>
              </a:ext>
            </a:extLst>
          </p:cNvPr>
          <p:cNvSpPr txBox="1"/>
          <p:nvPr/>
        </p:nvSpPr>
        <p:spPr>
          <a:xfrm>
            <a:off x="126833" y="882633"/>
            <a:ext cx="1773686" cy="53591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lnSpc>
                <a:spcPct val="130000"/>
              </a:lnSpc>
              <a:defRPr sz="3000">
                <a:solidFill>
                  <a:srgbClr val="011C66"/>
                </a:solidFill>
                <a:latin typeface="Lantinghei SC Demibold"/>
                <a:ea typeface="Lantinghei SC Demibold"/>
                <a:cs typeface="Lantinghei SC Demibold"/>
                <a:sym typeface="Lantinghei SC Demibold"/>
              </a:defRPr>
            </a:lvl1pPr>
          </a:lstStyle>
          <a:p>
            <a:r>
              <a:rPr kumimoji="1" lang="zh-CN" altLang="en-US" sz="2400" b="1" spc="300" dirty="0">
                <a:solidFill>
                  <a:schemeClr val="tx1">
                    <a:lumMod val="85000"/>
                    <a:lumOff val="15000"/>
                  </a:schemeClr>
                </a:solidFill>
                <a:latin typeface="微软雅黑"/>
                <a:ea typeface="微软雅黑"/>
                <a:cs typeface="Helvetica"/>
                <a:sym typeface="Helvetica"/>
              </a:rPr>
              <a:t>积分商城：</a:t>
            </a:r>
            <a:endParaRPr kumimoji="1" sz="2400" b="1" spc="300" dirty="0">
              <a:solidFill>
                <a:schemeClr val="tx1">
                  <a:lumMod val="85000"/>
                  <a:lumOff val="15000"/>
                </a:schemeClr>
              </a:solidFill>
              <a:latin typeface="微软雅黑"/>
              <a:ea typeface="微软雅黑"/>
              <a:cs typeface="Helvetica"/>
              <a:sym typeface="Helvetica"/>
            </a:endParaRPr>
          </a:p>
        </p:txBody>
      </p:sp>
      <p:pic>
        <p:nvPicPr>
          <p:cNvPr id="3" name="图片 2">
            <a:extLst>
              <a:ext uri="{FF2B5EF4-FFF2-40B4-BE49-F238E27FC236}">
                <a16:creationId xmlns:a16="http://schemas.microsoft.com/office/drawing/2014/main" xmlns="" id="{C5E90BE0-4590-53FA-D84D-3DF83BD9D3B7}"/>
              </a:ext>
            </a:extLst>
          </p:cNvPr>
          <p:cNvPicPr>
            <a:picLocks noChangeAspect="1"/>
          </p:cNvPicPr>
          <p:nvPr/>
        </p:nvPicPr>
        <p:blipFill>
          <a:blip r:embed="rId2"/>
          <a:stretch>
            <a:fillRect/>
          </a:stretch>
        </p:blipFill>
        <p:spPr>
          <a:xfrm>
            <a:off x="351450" y="1705268"/>
            <a:ext cx="8296734" cy="4455248"/>
          </a:xfrm>
          <a:prstGeom prst="rect">
            <a:avLst/>
          </a:prstGeom>
        </p:spPr>
      </p:pic>
      <p:pic>
        <p:nvPicPr>
          <p:cNvPr id="9" name="图片 8">
            <a:extLst>
              <a:ext uri="{FF2B5EF4-FFF2-40B4-BE49-F238E27FC236}">
                <a16:creationId xmlns:a16="http://schemas.microsoft.com/office/drawing/2014/main" xmlns="" id="{EBDC3F32-51C7-96EF-7DFC-531F4FD1B3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12214" y="1552856"/>
            <a:ext cx="2728336" cy="4852800"/>
          </a:xfrm>
          <a:prstGeom prst="rect">
            <a:avLst/>
          </a:prstGeom>
        </p:spPr>
      </p:pic>
      <p:sp>
        <p:nvSpPr>
          <p:cNvPr id="10" name="文本框 9">
            <a:extLst>
              <a:ext uri="{FF2B5EF4-FFF2-40B4-BE49-F238E27FC236}">
                <a16:creationId xmlns:a16="http://schemas.microsoft.com/office/drawing/2014/main" xmlns="" id="{267EC6B1-82A7-39AA-159D-45360DE6B490}"/>
              </a:ext>
            </a:extLst>
          </p:cNvPr>
          <p:cNvSpPr txBox="1"/>
          <p:nvPr/>
        </p:nvSpPr>
        <p:spPr>
          <a:xfrm>
            <a:off x="1707823" y="1049217"/>
            <a:ext cx="841485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包括商城运营、商品管理、订单管理三部分，支持在线发放券码和线下邮寄实物。</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76732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10"/>
  <p:tag name="KSO_WM_UNIT_ID" val="261*r_i*1_10"/>
  <p:tag name="KSO_WM_UNIT_CLEAR" val="1"/>
  <p:tag name="KSO_WM_UNIT_LAYERLEVEL" val="1_1"/>
  <p:tag name="KSO_WM_BEAUTIFY_FLAG" val="#wm#"/>
  <p:tag name="KSO_WM_TAG_VERSION" val="1.0"/>
  <p:tag name="KSO_WM_DIAGRAM_GROUP_CODE" val="r1-1"/>
  <p:tag name="KSO_WM_UNIT_FILL_FORE_SCHEMECOLOR_INDEX" val="14"/>
  <p:tag name="KSO_WM_UNIT_FILL_TYPE" val="1"/>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1"/>
  <p:tag name="KSO_WM_UNIT_ID" val="261*r_i*1_1"/>
  <p:tag name="KSO_WM_UNIT_CLEAR" val="1"/>
  <p:tag name="KSO_WM_UNIT_LAYERLEVEL" val="1_1"/>
  <p:tag name="KSO_WM_BEAUTIFY_FLAG" val="#wm#"/>
  <p:tag name="KSO_WM_TAG_VERSION" val="1.0"/>
  <p:tag name="KSO_WM_DIAGRAM_GROUP_CODE" val="r1-1"/>
  <p:tag name="KSO_WM_UNIT_FILL_FORE_SCHEMECOLOR_INDEX" val="6"/>
  <p:tag name="KSO_WM_UNI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2"/>
  <p:tag name="KSO_WM_UNIT_ID" val="261*r_i*1_2"/>
  <p:tag name="KSO_WM_UNIT_CLEAR" val="1"/>
  <p:tag name="KSO_WM_UNIT_LAYERLEVEL" val="1_1"/>
  <p:tag name="KSO_WM_BEAUTIFY_FLAG" val="#wm#"/>
  <p:tag name="KSO_WM_TAG_VERSION" val="1.0"/>
  <p:tag name="KSO_WM_DIAGRAM_GROUP_CODE" val="r1-1"/>
  <p:tag name="KSO_WM_UNIT_FILL_FORE_SCHEMECOLOR_INDEX" val="14"/>
  <p:tag name="KSO_WM_UNIT_FILL_TYPE" val="1"/>
</p:tagLst>
</file>

<file path=ppt/tags/tag4.xml><?xml version="1.0" encoding="utf-8"?>
<p:tagLst xmlns:a="http://schemas.openxmlformats.org/drawingml/2006/main" xmlns:r="http://schemas.openxmlformats.org/officeDocument/2006/relationships" xmlns:p="http://schemas.openxmlformats.org/presentationml/2006/main">
  <p:tag name="MH" val="20150921115827"/>
  <p:tag name="MH_LIBRARY" val="GRAPHIC"/>
  <p:tag name="MH_TYPE" val="Text"/>
  <p:tag name="MH_ORDER" val="1"/>
  <p:tag name="KSO_WM_TEMPLATE_CATEGORY" val="diagram"/>
  <p:tag name="KSO_WM_TEMPLATE_INDEX" val="160812"/>
  <p:tag name="KSO_WM_UNIT_TYPE" val="r_v"/>
  <p:tag name="KSO_WM_UNIT_INDEX" val="1_1"/>
  <p:tag name="KSO_WM_UNIT_ID" val="261*r_v*1_1"/>
  <p:tag name="KSO_WM_UNIT_CLEAR" val="1"/>
  <p:tag name="KSO_WM_UNIT_LAYERLEVEL" val="1_1"/>
  <p:tag name="KSO_WM_UNIT_DIAGRAM_CONTRAST_TITLE_CNT" val="4"/>
  <p:tag name="KSO_WM_UNIT_DIAGRAM_DIMENSION_TITLE_CNT" val="2"/>
  <p:tag name="KSO_WM_UNIT_VALUE" val="14"/>
  <p:tag name="KSO_WM_UNIT_HIGHLIGHT" val="0"/>
  <p:tag name="KSO_WM_UNIT_COMPATIBLE" val="0"/>
  <p:tag name="KSO_WM_UNIT_PRESET_TEXT_INDEX" val="3"/>
  <p:tag name="KSO_WM_UNIT_PRESET_TEXT_LEN" val="17"/>
  <p:tag name="KSO_WM_BEAUTIFY_FLAG" val="#wm#"/>
  <p:tag name="KSO_WM_TAG_VERSION" val="1.0"/>
  <p:tag name="KSO_WM_DIAGRAM_GROUP_CODE" val="r1-1"/>
</p:tagLst>
</file>

<file path=ppt/tags/tag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9"/>
  <p:tag name="KSO_WM_UNIT_ID" val="261*r_i*1_9"/>
  <p:tag name="KSO_WM_UNIT_CLEAR" val="1"/>
  <p:tag name="KSO_WM_UNIT_LAYERLEVEL" val="1_1"/>
  <p:tag name="KSO_WM_BEAUTIFY_FLAG" val="#wm#"/>
  <p:tag name="KSO_WM_TAG_VERSION" val="1.0"/>
  <p:tag name="KSO_WM_DIAGRAM_GROUP_CODE" val="r1-1"/>
  <p:tag name="KSO_WM_UNIT_FILL_FORE_SCHEMECOLOR_INDEX" val="7"/>
  <p:tag name="KSO_WM_UNIT_FILL_TYPE" val="1"/>
</p:tagLst>
</file>

<file path=ppt/tags/tag6.xml><?xml version="1.0" encoding="utf-8"?>
<p:tagLst xmlns:a="http://schemas.openxmlformats.org/drawingml/2006/main" xmlns:r="http://schemas.openxmlformats.org/officeDocument/2006/relationships" xmlns:p="http://schemas.openxmlformats.org/presentationml/2006/main">
  <p:tag name="MH" val="20150921115827"/>
  <p:tag name="MH_LIBRARY" val="GRAPHIC"/>
  <p:tag name="MH_TYPE" val="Text"/>
  <p:tag name="MH_ORDER" val="1"/>
  <p:tag name="KSO_WM_TEMPLATE_CATEGORY" val="diagram"/>
  <p:tag name="KSO_WM_TEMPLATE_INDEX" val="160812"/>
  <p:tag name="KSO_WM_UNIT_TYPE" val="r_v"/>
  <p:tag name="KSO_WM_UNIT_INDEX" val="1_2"/>
  <p:tag name="KSO_WM_UNIT_ID" val="261*r_v*1_2"/>
  <p:tag name="KSO_WM_UNIT_CLEAR" val="1"/>
  <p:tag name="KSO_WM_UNIT_LAYERLEVEL" val="1_1"/>
  <p:tag name="KSO_WM_UNIT_DIAGRAM_CONTRAST_TITLE_CNT" val="4"/>
  <p:tag name="KSO_WM_UNIT_DIAGRAM_DIMENSION_TITLE_CNT" val="2"/>
  <p:tag name="KSO_WM_UNIT_VALUE" val="14"/>
  <p:tag name="KSO_WM_UNIT_HIGHLIGHT" val="0"/>
  <p:tag name="KSO_WM_UNIT_COMPATIBLE" val="0"/>
  <p:tag name="KSO_WM_UNIT_PRESET_TEXT_INDEX" val="3"/>
  <p:tag name="KSO_WM_UNIT_PRESET_TEXT_LEN" val="17"/>
  <p:tag name="KSO_WM_BEAUTIFY_FLAG" val="#wm#"/>
  <p:tag name="KSO_WM_TAG_VERSION" val="1.0"/>
  <p:tag name="KSO_WM_DIAGRAM_GROUP_CODE" val="r1-1"/>
</p:tagLst>
</file>

<file path=ppt/tags/tag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17"/>
  <p:tag name="KSO_WM_UNIT_ID" val="261*r_i*1_17"/>
  <p:tag name="KSO_WM_UNIT_CLEAR" val="1"/>
  <p:tag name="KSO_WM_UNIT_LAYERLEVEL" val="1_1"/>
  <p:tag name="KSO_WM_BEAUTIFY_FLAG" val="#wm#"/>
  <p:tag name="KSO_WM_TAG_VERSION" val="1.0"/>
  <p:tag name="KSO_WM_DIAGRAM_GROUP_CODE" val="r1-1"/>
  <p:tag name="KSO_WM_UNIT_FILL_FORE_SCHEMECOLOR_INDEX" val="8"/>
  <p:tag name="KSO_WM_UNI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18"/>
  <p:tag name="KSO_WM_UNIT_ID" val="261*r_i*1_18"/>
  <p:tag name="KSO_WM_UNIT_CLEAR" val="1"/>
  <p:tag name="KSO_WM_UNIT_LAYERLEVEL" val="1_1"/>
  <p:tag name="KSO_WM_BEAUTIFY_FLAG" val="#wm#"/>
  <p:tag name="KSO_WM_TAG_VERSION" val="1.0"/>
  <p:tag name="KSO_WM_DIAGRAM_GROUP_CODE" val="r1-1"/>
  <p:tag name="KSO_WM_UNIT_FILL_FORE_SCHEMECOLOR_INDEX" val="14"/>
  <p:tag name="KSO_WM_UNIT_FILL_TYPE" val="1"/>
</p:tagLst>
</file>

<file path=ppt/tags/tag9.xml><?xml version="1.0" encoding="utf-8"?>
<p:tagLst xmlns:a="http://schemas.openxmlformats.org/drawingml/2006/main" xmlns:r="http://schemas.openxmlformats.org/officeDocument/2006/relationships" xmlns:p="http://schemas.openxmlformats.org/presentationml/2006/main">
  <p:tag name="MH" val="20150921115827"/>
  <p:tag name="MH_LIBRARY" val="GRAPHIC"/>
  <p:tag name="MH_TYPE" val="Text"/>
  <p:tag name="MH_ORDER" val="1"/>
  <p:tag name="KSO_WM_TEMPLATE_CATEGORY" val="diagram"/>
  <p:tag name="KSO_WM_TEMPLATE_INDEX" val="160812"/>
  <p:tag name="KSO_WM_UNIT_TYPE" val="r_v"/>
  <p:tag name="KSO_WM_UNIT_INDEX" val="1_3"/>
  <p:tag name="KSO_WM_UNIT_ID" val="261*r_v*1_3"/>
  <p:tag name="KSO_WM_UNIT_CLEAR" val="1"/>
  <p:tag name="KSO_WM_UNIT_LAYERLEVEL" val="1_1"/>
  <p:tag name="KSO_WM_UNIT_DIAGRAM_CONTRAST_TITLE_CNT" val="4"/>
  <p:tag name="KSO_WM_UNIT_DIAGRAM_DIMENSION_TITLE_CNT" val="2"/>
  <p:tag name="KSO_WM_UNIT_VALUE" val="14"/>
  <p:tag name="KSO_WM_UNIT_HIGHLIGHT" val="0"/>
  <p:tag name="KSO_WM_UNIT_COMPATIBLE" val="0"/>
  <p:tag name="KSO_WM_UNIT_PRESET_TEXT_INDEX" val="3"/>
  <p:tag name="KSO_WM_UNIT_PRESET_TEXT_LEN" val="17"/>
  <p:tag name="KSO_WM_BEAUTIFY_FLAG" val="#wm#"/>
  <p:tag name="KSO_WM_TAG_VERSION" val="1.0"/>
  <p:tag name="KSO_WM_DIAGRAM_GROUP_CODE" val="r1-1"/>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25"/>
  <p:tag name="KSO_WM_UNIT_ID" val="261*r_i*1_25"/>
  <p:tag name="KSO_WM_UNIT_CLEAR" val="1"/>
  <p:tag name="KSO_WM_UNIT_LAYERLEVEL" val="1_1"/>
  <p:tag name="KSO_WM_BEAUTIFY_FLAG" val="#wm#"/>
  <p:tag name="KSO_WM_TAG_VERSION" val="1.0"/>
  <p:tag name="KSO_WM_DIAGRAM_GROUP_CODE" val="r1-1"/>
  <p:tag name="KSO_WM_UNIT_FILL_FORE_SCHEMECOLOR_INDEX" val="9"/>
  <p:tag name="KSO_WM_UNI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2"/>
  <p:tag name="KSO_WM_UNIT_TYPE" val="r_i"/>
  <p:tag name="KSO_WM_UNIT_INDEX" val="1_26"/>
  <p:tag name="KSO_WM_UNIT_ID" val="261*r_i*1_26"/>
  <p:tag name="KSO_WM_UNIT_CLEAR" val="1"/>
  <p:tag name="KSO_WM_UNIT_LAYERLEVEL" val="1_1"/>
  <p:tag name="KSO_WM_BEAUTIFY_FLAG" val="#wm#"/>
  <p:tag name="KSO_WM_TAG_VERSION" val="1.0"/>
  <p:tag name="KSO_WM_DIAGRAM_GROUP_CODE" val="r1-1"/>
  <p:tag name="KSO_WM_UNIT_FILL_FORE_SCHEMECOLOR_INDEX" val="14"/>
  <p:tag name="KSO_WM_UNIT_FILL_TYPE" val="1"/>
</p:tagLst>
</file>

<file path=ppt/tags/tag12.xml><?xml version="1.0" encoding="utf-8"?>
<p:tagLst xmlns:a="http://schemas.openxmlformats.org/drawingml/2006/main" xmlns:r="http://schemas.openxmlformats.org/officeDocument/2006/relationships" xmlns:p="http://schemas.openxmlformats.org/presentationml/2006/main">
  <p:tag name="MH" val="20150921115827"/>
  <p:tag name="MH_LIBRARY" val="GRAPHIC"/>
  <p:tag name="MH_TYPE" val="Text"/>
  <p:tag name="MH_ORDER" val="1"/>
  <p:tag name="KSO_WM_TEMPLATE_CATEGORY" val="diagram"/>
  <p:tag name="KSO_WM_TEMPLATE_INDEX" val="160812"/>
  <p:tag name="KSO_WM_UNIT_TYPE" val="r_v"/>
  <p:tag name="KSO_WM_UNIT_INDEX" val="1_4"/>
  <p:tag name="KSO_WM_UNIT_ID" val="261*r_v*1_4"/>
  <p:tag name="KSO_WM_UNIT_CLEAR" val="1"/>
  <p:tag name="KSO_WM_UNIT_LAYERLEVEL" val="1_1"/>
  <p:tag name="KSO_WM_UNIT_DIAGRAM_CONTRAST_TITLE_CNT" val="4"/>
  <p:tag name="KSO_WM_UNIT_DIAGRAM_DIMENSION_TITLE_CNT" val="2"/>
  <p:tag name="KSO_WM_UNIT_VALUE" val="14"/>
  <p:tag name="KSO_WM_UNIT_HIGHLIGHT" val="0"/>
  <p:tag name="KSO_WM_UNIT_COMPATIBLE" val="0"/>
  <p:tag name="KSO_WM_UNIT_PRESET_TEXT_INDEX" val="3"/>
  <p:tag name="KSO_WM_UNIT_PRESET_TEXT_LEN" val="17"/>
  <p:tag name="KSO_WM_BEAUTIFY_FLAG" val="#wm#"/>
  <p:tag name="KSO_WM_TAG_VERSION" val="1.0"/>
  <p:tag name="KSO_WM_DIAGRAM_GROUP_CODE" val="r1-1"/>
</p:tagLst>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41615B"/>
      </a:dk2>
      <a:lt2>
        <a:srgbClr val="E7E6E6"/>
      </a:lt2>
      <a:accent1>
        <a:srgbClr val="26AB8E"/>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1">
      <a:dk1>
        <a:sysClr val="windowText" lastClr="000000"/>
      </a:dk1>
      <a:lt1>
        <a:sysClr val="window" lastClr="FFFFFF"/>
      </a:lt1>
      <a:dk2>
        <a:srgbClr val="41615B"/>
      </a:dk2>
      <a:lt2>
        <a:srgbClr val="E7E6E6"/>
      </a:lt2>
      <a:accent1>
        <a:srgbClr val="26AB8E"/>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自定义 1">
      <a:dk1>
        <a:sysClr val="windowText" lastClr="000000"/>
      </a:dk1>
      <a:lt1>
        <a:sysClr val="window" lastClr="FFFFFF"/>
      </a:lt1>
      <a:dk2>
        <a:srgbClr val="41615B"/>
      </a:dk2>
      <a:lt2>
        <a:srgbClr val="E7E6E6"/>
      </a:lt2>
      <a:accent1>
        <a:srgbClr val="26AB8E"/>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546</Words>
  <Application>Microsoft Office PowerPoint</Application>
  <PresentationFormat>宽屏</PresentationFormat>
  <Paragraphs>116</Paragraphs>
  <Slides>16</Slides>
  <Notes>1</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16</vt:i4>
      </vt:variant>
    </vt:vector>
  </HeadingPairs>
  <TitlesOfParts>
    <vt:vector size="29" baseType="lpstr">
      <vt:lpstr>Helvetica Neue Medium</vt:lpstr>
      <vt:lpstr>等线</vt:lpstr>
      <vt:lpstr>华文细黑</vt:lpstr>
      <vt:lpstr>宋体</vt:lpstr>
      <vt:lpstr>微软雅黑</vt:lpstr>
      <vt:lpstr>Arial</vt:lpstr>
      <vt:lpstr>Calibri</vt:lpstr>
      <vt:lpstr>Helvetica</vt:lpstr>
      <vt:lpstr>Times New Roman</vt:lpstr>
      <vt:lpstr>Wingdings</vt:lpstr>
      <vt:lpstr>自定义设计方案</vt:lpstr>
      <vt:lpstr>1_自定义设计方案</vt:lpstr>
      <vt:lpstr>2_自定义设计方案</vt:lpstr>
      <vt:lpstr>PowerPoint 演示文稿</vt:lpstr>
      <vt:lpstr>产品定位分析</vt:lpstr>
      <vt:lpstr>产品架构规划</vt:lpstr>
      <vt:lpstr>直播发布系统</vt:lpstr>
      <vt:lpstr>直播发布系统</vt:lpstr>
      <vt:lpstr>直播发布系统</vt:lpstr>
      <vt:lpstr>直播发布系统</vt:lpstr>
      <vt:lpstr>互动活动系统</vt:lpstr>
      <vt:lpstr>互动活动系统</vt:lpstr>
      <vt:lpstr>问答管理系统</vt:lpstr>
      <vt:lpstr>问答管理系统</vt:lpstr>
      <vt:lpstr>问答管理系统</vt:lpstr>
      <vt:lpstr>用户激励系统</vt:lpstr>
      <vt:lpstr>用户激励系统</vt:lpstr>
      <vt:lpstr>用户激励系统</vt:lpstr>
      <vt:lpstr>用户激励系统</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IIG战略市场部（作业一）</dc:title>
  <dc:creator>Administrator</dc:creator>
  <cp:lastModifiedBy>陈想</cp:lastModifiedBy>
  <cp:revision>2462</cp:revision>
  <dcterms:created xsi:type="dcterms:W3CDTF">2015-05-05T08:02:00Z</dcterms:created>
  <dcterms:modified xsi:type="dcterms:W3CDTF">2026-02-02T02:33:44Z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